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Urbanist"/>
      <p:regular r:id="rId20"/>
      <p:bold r:id="rId21"/>
      <p:italic r:id="rId22"/>
      <p:boldItalic r:id="rId23"/>
    </p:embeddedFont>
    <p:embeddedFont>
      <p:font typeface="JetBrains Mon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regular.fntdata"/><Relationship Id="rId22" Type="http://schemas.openxmlformats.org/officeDocument/2006/relationships/font" Target="fonts/Urbanist-italic.fntdata"/><Relationship Id="rId21" Type="http://schemas.openxmlformats.org/officeDocument/2006/relationships/font" Target="fonts/Urbanist-bold.fntdata"/><Relationship Id="rId24" Type="http://schemas.openxmlformats.org/officeDocument/2006/relationships/font" Target="fonts/JetBrainsMono-regular.fntdata"/><Relationship Id="rId23" Type="http://schemas.openxmlformats.org/officeDocument/2006/relationships/font" Target="fonts/Urbanis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JetBrainsMono-italic.fntdata"/><Relationship Id="rId25" Type="http://schemas.openxmlformats.org/officeDocument/2006/relationships/font" Target="fonts/JetBrainsMono-bold.fntdata"/><Relationship Id="rId27" Type="http://schemas.openxmlformats.org/officeDocument/2006/relationships/font" Target="fonts/JetBrains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79e4106c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a79e4106c5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d42fdacbe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ad42fdacbe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d42fdacbe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3ad42fdacbe_1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d42fdacb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3ad42fdacbe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ad42fdacbe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ad42fdacbe_2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hyperlink" Target="https://openf1.or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21.png"/><Relationship Id="rId6" Type="http://schemas.openxmlformats.org/officeDocument/2006/relationships/image" Target="../media/image9.png"/><Relationship Id="rId7"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10.png"/><Relationship Id="rId6"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18.png"/><Relationship Id="rId7" Type="http://schemas.openxmlformats.org/officeDocument/2006/relationships/image" Target="../media/image20.png"/><Relationship Id="rId8"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2781300" y="5020567"/>
            <a:ext cx="6629400" cy="739080"/>
          </a:xfrm>
          <a:prstGeom prst="rect">
            <a:avLst/>
          </a:prstGeom>
          <a:noFill/>
          <a:ln>
            <a:noFill/>
          </a:ln>
        </p:spPr>
      </p:pic>
      <p:sp>
        <p:nvSpPr>
          <p:cNvPr id="86" name="Google Shape;86;p13"/>
          <p:cNvSpPr txBox="1"/>
          <p:nvPr/>
        </p:nvSpPr>
        <p:spPr>
          <a:xfrm>
            <a:off x="2454150" y="2336600"/>
            <a:ext cx="7283700" cy="1648500"/>
          </a:xfrm>
          <a:prstGeom prst="rect">
            <a:avLst/>
          </a:prstGeom>
          <a:noFill/>
          <a:ln>
            <a:noFill/>
          </a:ln>
        </p:spPr>
        <p:txBody>
          <a:bodyPr anchorCtr="0" anchor="t" bIns="0" lIns="0" spcFirstLastPara="1" rIns="0" wrap="square" tIns="0">
            <a:spAutoFit/>
          </a:bodyPr>
          <a:lstStyle/>
          <a:p>
            <a:pPr indent="0" lvl="0" marL="0" marR="0" rtl="0" algn="ctr">
              <a:lnSpc>
                <a:spcPct val="109980"/>
              </a:lnSpc>
              <a:spcBef>
                <a:spcPts val="0"/>
              </a:spcBef>
              <a:spcAft>
                <a:spcPts val="0"/>
              </a:spcAft>
              <a:buNone/>
            </a:pPr>
            <a:r>
              <a:rPr b="1" i="0" lang="en-US" sz="5100" u="none" cap="none" strike="noStrike">
                <a:solidFill>
                  <a:srgbClr val="FFFFFF"/>
                </a:solidFill>
                <a:latin typeface="Urbanist"/>
                <a:ea typeface="Urbanist"/>
                <a:cs typeface="Urbanist"/>
                <a:sym typeface="Urbanist"/>
              </a:rPr>
              <a:t>TIRE CHANGES &amp; </a:t>
            </a:r>
            <a:br>
              <a:rPr b="0" i="0" lang="en-US" sz="1800" u="none" cap="none" strike="noStrike">
                <a:solidFill>
                  <a:schemeClr val="dk1"/>
                </a:solidFill>
                <a:latin typeface="Calibri"/>
                <a:ea typeface="Calibri"/>
                <a:cs typeface="Calibri"/>
                <a:sym typeface="Calibri"/>
              </a:rPr>
            </a:br>
            <a:r>
              <a:rPr b="1" i="0" lang="en-US" sz="5100" u="none" cap="none" strike="noStrike">
                <a:solidFill>
                  <a:srgbClr val="EF4444"/>
                </a:solidFill>
                <a:latin typeface="Urbanist"/>
                <a:ea typeface="Urbanist"/>
                <a:cs typeface="Urbanist"/>
                <a:sym typeface="Urbanist"/>
              </a:rPr>
              <a:t>STRATEGY IMPACT </a:t>
            </a:r>
            <a:r>
              <a:rPr b="1" lang="en-US" sz="5100">
                <a:solidFill>
                  <a:srgbClr val="EF4444"/>
                </a:solidFill>
                <a:latin typeface="Urbanist"/>
                <a:ea typeface="Urbanist"/>
                <a:cs typeface="Urbanist"/>
                <a:sym typeface="Urbanist"/>
              </a:rPr>
              <a:t>in F1</a:t>
            </a:r>
            <a:endParaRPr/>
          </a:p>
        </p:txBody>
      </p:sp>
      <p:sp>
        <p:nvSpPr>
          <p:cNvPr id="87" name="Google Shape;87;p13"/>
          <p:cNvSpPr txBox="1"/>
          <p:nvPr/>
        </p:nvSpPr>
        <p:spPr>
          <a:xfrm>
            <a:off x="2195512" y="4161532"/>
            <a:ext cx="7800900" cy="254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lang="en-US" sz="1650">
                <a:solidFill>
                  <a:srgbClr val="94A3B8"/>
                </a:solidFill>
                <a:latin typeface="JetBrains Mono"/>
                <a:ea typeface="JetBrains Mono"/>
                <a:cs typeface="JetBrains Mono"/>
                <a:sym typeface="JetBrains Mono"/>
              </a:rPr>
              <a:t>Group 3 - MLDS Data Engineering </a:t>
            </a:r>
            <a:endParaRPr/>
          </a:p>
        </p:txBody>
      </p:sp>
      <p:pic>
        <p:nvPicPr>
          <p:cNvPr descr="image.png" id="88" name="Google Shape;88;p13"/>
          <p:cNvPicPr preferRelativeResize="0"/>
          <p:nvPr/>
        </p:nvPicPr>
        <p:blipFill rotWithShape="1">
          <a:blip r:embed="rId5">
            <a:alphaModFix/>
          </a:blip>
          <a:srcRect b="0" l="0" r="0" t="0"/>
          <a:stretch/>
        </p:blipFill>
        <p:spPr>
          <a:xfrm>
            <a:off x="5762625" y="1098351"/>
            <a:ext cx="666750" cy="762000"/>
          </a:xfrm>
          <a:prstGeom prst="rect">
            <a:avLst/>
          </a:prstGeom>
          <a:noFill/>
          <a:ln>
            <a:noFill/>
          </a:ln>
        </p:spPr>
      </p:pic>
      <p:sp>
        <p:nvSpPr>
          <p:cNvPr id="89" name="Google Shape;89;p13"/>
          <p:cNvSpPr txBox="1"/>
          <p:nvPr/>
        </p:nvSpPr>
        <p:spPr>
          <a:xfrm>
            <a:off x="2781300" y="5372992"/>
            <a:ext cx="66294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lang="en-US" sz="1200">
                <a:solidFill>
                  <a:srgbClr val="64748B"/>
                </a:solidFill>
                <a:latin typeface="Urbanist"/>
                <a:ea typeface="Urbanist"/>
                <a:cs typeface="Urbanist"/>
                <a:sym typeface="Urbanist"/>
              </a:rPr>
              <a:t>Using </a:t>
            </a:r>
            <a:r>
              <a:rPr lang="en-US" sz="1200" u="sng">
                <a:solidFill>
                  <a:schemeClr val="hlink"/>
                </a:solidFill>
                <a:latin typeface="Urbanist"/>
                <a:ea typeface="Urbanist"/>
                <a:cs typeface="Urbanist"/>
                <a:sym typeface="Urbanist"/>
                <a:hlinkClick r:id="rId6"/>
              </a:rPr>
              <a:t>https://openf1.org/</a:t>
            </a:r>
            <a:r>
              <a:rPr lang="en-US" sz="1200">
                <a:solidFill>
                  <a:srgbClr val="64748B"/>
                </a:solidFill>
                <a:latin typeface="Urbanist"/>
                <a:ea typeface="Urbanist"/>
                <a:cs typeface="Urbanist"/>
                <a:sym typeface="Urbanist"/>
              </a:rPr>
              <a:t> API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3" name="Shape 93"/>
        <p:cNvGrpSpPr/>
        <p:nvPr/>
      </p:nvGrpSpPr>
      <p:grpSpPr>
        <a:xfrm>
          <a:off x="0" y="0"/>
          <a:ext cx="0" cy="0"/>
          <a:chOff x="0" y="0"/>
          <a:chExt cx="0" cy="0"/>
        </a:xfrm>
      </p:grpSpPr>
      <p:pic>
        <p:nvPicPr>
          <p:cNvPr descr="image.png" id="94" name="Google Shape;94;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5" name="Google Shape;95;p14"/>
          <p:cNvPicPr preferRelativeResize="0"/>
          <p:nvPr/>
        </p:nvPicPr>
        <p:blipFill rotWithShape="1">
          <a:blip r:embed="rId4">
            <a:alphaModFix/>
          </a:blip>
          <a:srcRect b="0" l="0" r="0" t="0"/>
          <a:stretch/>
        </p:blipFill>
        <p:spPr>
          <a:xfrm>
            <a:off x="6381750" y="1957387"/>
            <a:ext cx="5238750" cy="3810000"/>
          </a:xfrm>
          <a:prstGeom prst="rect">
            <a:avLst/>
          </a:prstGeom>
          <a:noFill/>
          <a:ln>
            <a:noFill/>
          </a:ln>
        </p:spPr>
      </p:pic>
      <p:sp>
        <p:nvSpPr>
          <p:cNvPr id="96" name="Google Shape;96;p14"/>
          <p:cNvSpPr txBox="1"/>
          <p:nvPr/>
        </p:nvSpPr>
        <p:spPr>
          <a:xfrm>
            <a:off x="571500" y="1966912"/>
            <a:ext cx="55008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E2E8F0"/>
                </a:solidFill>
                <a:latin typeface="Urbanist"/>
                <a:ea typeface="Urbanist"/>
                <a:cs typeface="Urbanist"/>
                <a:sym typeface="Urbanist"/>
              </a:rPr>
              <a:t>Race outcomes impacted by many </a:t>
            </a:r>
            <a:r>
              <a:rPr b="1" i="0" lang="en-US" sz="2100" u="none" cap="none" strike="noStrike">
                <a:solidFill>
                  <a:srgbClr val="E2E8F0"/>
                </a:solidFill>
                <a:latin typeface="Urbanist"/>
                <a:ea typeface="Urbanist"/>
                <a:cs typeface="Urbanist"/>
                <a:sym typeface="Urbanist"/>
              </a:rPr>
              <a:t>FACTORS</a:t>
            </a:r>
            <a:endParaRPr sz="1700"/>
          </a:p>
        </p:txBody>
      </p:sp>
      <p:sp>
        <p:nvSpPr>
          <p:cNvPr id="97" name="Google Shape;97;p14"/>
          <p:cNvSpPr txBox="1"/>
          <p:nvPr/>
        </p:nvSpPr>
        <p:spPr>
          <a:xfrm>
            <a:off x="571500" y="2493962"/>
            <a:ext cx="5238900" cy="1936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700">
                <a:solidFill>
                  <a:srgbClr val="CBD5E1"/>
                </a:solidFill>
                <a:latin typeface="Urbanist"/>
                <a:ea typeface="Urbanist"/>
                <a:cs typeface="Urbanist"/>
                <a:sym typeface="Urbanist"/>
              </a:rPr>
              <a:t>F1 races are shaped by a massive interplay of factors—grid positions, car performance, engine modes, ERS usage, track layout, weather, driver skill, and even radom safety-car and race control events </a:t>
            </a:r>
            <a:endParaRPr sz="1700">
              <a:solidFill>
                <a:srgbClr val="CBD5E1"/>
              </a:solidFill>
              <a:latin typeface="Urbanist"/>
              <a:ea typeface="Urbanist"/>
              <a:cs typeface="Urbanist"/>
              <a:sym typeface="Urbanist"/>
            </a:endParaRPr>
          </a:p>
          <a:p>
            <a:pPr indent="0" lvl="0" marL="0" marR="0" rtl="0" algn="l">
              <a:lnSpc>
                <a:spcPct val="160000"/>
              </a:lnSpc>
              <a:spcBef>
                <a:spcPts val="0"/>
              </a:spcBef>
              <a:spcAft>
                <a:spcPts val="0"/>
              </a:spcAft>
              <a:buClr>
                <a:srgbClr val="000000"/>
              </a:buClr>
              <a:buFont typeface="Arial"/>
              <a:buNone/>
            </a:pPr>
            <a:r>
              <a:t/>
            </a:r>
            <a:endParaRPr sz="1700">
              <a:solidFill>
                <a:srgbClr val="CBD5E1"/>
              </a:solidFill>
              <a:latin typeface="Urbanist"/>
              <a:ea typeface="Urbanist"/>
              <a:cs typeface="Urbanist"/>
              <a:sym typeface="Urbanist"/>
            </a:endParaRPr>
          </a:p>
        </p:txBody>
      </p:sp>
      <p:sp>
        <p:nvSpPr>
          <p:cNvPr id="98" name="Google Shape;98;p14"/>
          <p:cNvSpPr txBox="1"/>
          <p:nvPr/>
        </p:nvSpPr>
        <p:spPr>
          <a:xfrm>
            <a:off x="571500" y="4386262"/>
            <a:ext cx="5238900" cy="1428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600">
                <a:solidFill>
                  <a:srgbClr val="CBD5E1"/>
                </a:solidFill>
                <a:latin typeface="Urbanist"/>
                <a:ea typeface="Urbanist"/>
                <a:cs typeface="Urbanist"/>
                <a:sym typeface="Urbanist"/>
              </a:rPr>
              <a:t>But even within this complexity, pit-stop strategy and tire choices remain one of the most controllable levers teams have.</a:t>
            </a:r>
            <a:endParaRPr b="1" sz="1600">
              <a:solidFill>
                <a:srgbClr val="CBD5E1"/>
              </a:solidFill>
              <a:latin typeface="Urbanist"/>
              <a:ea typeface="Urbanist"/>
              <a:cs typeface="Urbanist"/>
              <a:sym typeface="Urbanist"/>
            </a:endParaRPr>
          </a:p>
          <a:p>
            <a:pPr indent="0" lvl="0" marL="0" marR="0" rtl="0" algn="l">
              <a:lnSpc>
                <a:spcPct val="160000"/>
              </a:lnSpc>
              <a:spcBef>
                <a:spcPts val="0"/>
              </a:spcBef>
              <a:spcAft>
                <a:spcPts val="0"/>
              </a:spcAft>
              <a:buNone/>
            </a:pPr>
            <a:r>
              <a:t/>
            </a:r>
            <a:endParaRPr b="1" sz="1600">
              <a:solidFill>
                <a:srgbClr val="CBD5E1"/>
              </a:solidFill>
              <a:latin typeface="Urbanist"/>
              <a:ea typeface="Urbanist"/>
              <a:cs typeface="Urbanist"/>
              <a:sym typeface="Urbanist"/>
            </a:endParaRPr>
          </a:p>
        </p:txBody>
      </p:sp>
      <p:pic>
        <p:nvPicPr>
          <p:cNvPr descr="image.png" id="99" name="Google Shape;99;p14"/>
          <p:cNvPicPr preferRelativeResize="0"/>
          <p:nvPr/>
        </p:nvPicPr>
        <p:blipFill rotWithShape="1">
          <a:blip r:embed="rId5">
            <a:alphaModFix/>
          </a:blip>
          <a:srcRect b="0" l="0" r="0" t="0"/>
          <a:stretch/>
        </p:blipFill>
        <p:spPr>
          <a:xfrm>
            <a:off x="6391275" y="1966912"/>
            <a:ext cx="5219700" cy="3790950"/>
          </a:xfrm>
          <a:prstGeom prst="rect">
            <a:avLst/>
          </a:prstGeom>
          <a:noFill/>
          <a:ln>
            <a:noFill/>
          </a:ln>
        </p:spPr>
      </p:pic>
      <p:sp>
        <p:nvSpPr>
          <p:cNvPr id="100" name="Google Shape;100;p14"/>
          <p:cNvSpPr txBox="1"/>
          <p:nvPr/>
        </p:nvSpPr>
        <p:spPr>
          <a:xfrm>
            <a:off x="762000" y="47625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38BDF8"/>
                </a:solidFill>
                <a:latin typeface="Urbanist"/>
                <a:ea typeface="Urbanist"/>
                <a:cs typeface="Urbanist"/>
                <a:sym typeface="Urbanist"/>
              </a:rPr>
              <a:t>THE COMPLEXITY OF F1</a:t>
            </a:r>
            <a:endParaRPr/>
          </a:p>
        </p:txBody>
      </p:sp>
      <p:sp>
        <p:nvSpPr>
          <p:cNvPr id="101" name="Google Shape;101;p14"/>
          <p:cNvSpPr/>
          <p:nvPr/>
        </p:nvSpPr>
        <p:spPr>
          <a:xfrm>
            <a:off x="571500" y="476250"/>
            <a:ext cx="47625" cy="485775"/>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5" name="Shape 105"/>
        <p:cNvGrpSpPr/>
        <p:nvPr/>
      </p:nvGrpSpPr>
      <p:grpSpPr>
        <a:xfrm>
          <a:off x="0" y="0"/>
          <a:ext cx="0" cy="0"/>
          <a:chOff x="0" y="0"/>
          <a:chExt cx="0" cy="0"/>
        </a:xfrm>
      </p:grpSpPr>
      <p:pic>
        <p:nvPicPr>
          <p:cNvPr id="106" name="Google Shape;106;p15" title="Screenshot 2025-11-21 at 9.08.02 AM.png"/>
          <p:cNvPicPr preferRelativeResize="0"/>
          <p:nvPr/>
        </p:nvPicPr>
        <p:blipFill rotWithShape="1">
          <a:blip r:embed="rId3">
            <a:alphaModFix/>
          </a:blip>
          <a:srcRect b="11551" l="0" r="0" t="0"/>
          <a:stretch/>
        </p:blipFill>
        <p:spPr>
          <a:xfrm>
            <a:off x="6476625" y="476250"/>
            <a:ext cx="4953000" cy="3029600"/>
          </a:xfrm>
          <a:prstGeom prst="rect">
            <a:avLst/>
          </a:prstGeom>
          <a:noFill/>
          <a:ln>
            <a:noFill/>
          </a:ln>
        </p:spPr>
      </p:pic>
      <p:pic>
        <p:nvPicPr>
          <p:cNvPr id="107" name="Google Shape;107;p15" title="Screenshot 2025-11-21 at 8.24.26 AM.png"/>
          <p:cNvPicPr preferRelativeResize="0"/>
          <p:nvPr/>
        </p:nvPicPr>
        <p:blipFill rotWithShape="1">
          <a:blip r:embed="rId4">
            <a:alphaModFix/>
          </a:blip>
          <a:srcRect b="0" l="1266" r="15385" t="0"/>
          <a:stretch/>
        </p:blipFill>
        <p:spPr>
          <a:xfrm>
            <a:off x="6406067" y="3817774"/>
            <a:ext cx="5574984" cy="2786075"/>
          </a:xfrm>
          <a:prstGeom prst="rect">
            <a:avLst/>
          </a:prstGeom>
          <a:noFill/>
          <a:ln>
            <a:noFill/>
          </a:ln>
        </p:spPr>
      </p:pic>
      <p:sp>
        <p:nvSpPr>
          <p:cNvPr id="108" name="Google Shape;108;p15"/>
          <p:cNvSpPr txBox="1"/>
          <p:nvPr/>
        </p:nvSpPr>
        <p:spPr>
          <a:xfrm>
            <a:off x="583413" y="1985962"/>
            <a:ext cx="55008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E2E8F0"/>
                </a:solidFill>
                <a:latin typeface="Urbanist"/>
                <a:ea typeface="Urbanist"/>
                <a:cs typeface="Urbanist"/>
                <a:sym typeface="Urbanist"/>
              </a:rPr>
              <a:t>PIT STOPS &amp; TIRE CHOICES</a:t>
            </a:r>
            <a:endParaRPr sz="1600"/>
          </a:p>
        </p:txBody>
      </p:sp>
      <p:sp>
        <p:nvSpPr>
          <p:cNvPr id="109" name="Google Shape;109;p15"/>
          <p:cNvSpPr txBox="1"/>
          <p:nvPr/>
        </p:nvSpPr>
        <p:spPr>
          <a:xfrm>
            <a:off x="282225" y="4852975"/>
            <a:ext cx="61239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1" lang="en-US" sz="1500">
                <a:solidFill>
                  <a:srgbClr val="94A3B8"/>
                </a:solidFill>
                <a:latin typeface="Urbanist"/>
                <a:ea typeface="Urbanist"/>
                <a:cs typeface="Urbanist"/>
                <a:sym typeface="Urbanist"/>
              </a:rPr>
              <a:t>The team</a:t>
            </a:r>
            <a:r>
              <a:rPr b="1" i="1" lang="en-US" sz="1500" u="none" cap="none" strike="noStrike">
                <a:solidFill>
                  <a:srgbClr val="94A3B8"/>
                </a:solidFill>
                <a:latin typeface="Urbanist"/>
                <a:ea typeface="Urbanist"/>
                <a:cs typeface="Urbanist"/>
                <a:sym typeface="Urbanist"/>
              </a:rPr>
              <a:t> </a:t>
            </a:r>
            <a:r>
              <a:rPr b="1" i="1" lang="en-US" sz="1500">
                <a:solidFill>
                  <a:srgbClr val="94A3B8"/>
                </a:solidFill>
                <a:latin typeface="Urbanist"/>
                <a:ea typeface="Urbanist"/>
                <a:cs typeface="Urbanist"/>
                <a:sym typeface="Urbanist"/>
              </a:rPr>
              <a:t>aim</a:t>
            </a:r>
            <a:r>
              <a:rPr b="1" i="1" lang="en-US" sz="1500" u="none" cap="none" strike="noStrike">
                <a:solidFill>
                  <a:srgbClr val="94A3B8"/>
                </a:solidFill>
                <a:latin typeface="Urbanist"/>
                <a:ea typeface="Urbanist"/>
                <a:cs typeface="Urbanist"/>
                <a:sym typeface="Urbanist"/>
              </a:rPr>
              <a:t> to quantify how these decisions create or erase gaps.</a:t>
            </a:r>
            <a:endParaRPr b="1"/>
          </a:p>
        </p:txBody>
      </p:sp>
      <p:sp>
        <p:nvSpPr>
          <p:cNvPr id="110" name="Google Shape;110;p15"/>
          <p:cNvSpPr txBox="1"/>
          <p:nvPr/>
        </p:nvSpPr>
        <p:spPr>
          <a:xfrm>
            <a:off x="857250" y="2446325"/>
            <a:ext cx="5058900" cy="640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00" u="none" cap="none" strike="noStrike">
                <a:solidFill>
                  <a:srgbClr val="CBD5E1"/>
                </a:solidFill>
                <a:latin typeface="Urbanist"/>
                <a:ea typeface="Urbanist"/>
                <a:cs typeface="Urbanist"/>
                <a:sym typeface="Urbanist"/>
              </a:rPr>
              <a:t>Performance </a:t>
            </a:r>
            <a:r>
              <a:rPr b="1" lang="en-US" sz="1600">
                <a:solidFill>
                  <a:srgbClr val="CBD5E1"/>
                </a:solidFill>
                <a:latin typeface="Urbanist"/>
                <a:ea typeface="Urbanist"/>
                <a:cs typeface="Urbanist"/>
                <a:sym typeface="Urbanist"/>
              </a:rPr>
              <a:t>Difference</a:t>
            </a:r>
            <a:r>
              <a:rPr b="1" i="0" lang="en-US" sz="1600" u="none" cap="none" strike="noStrike">
                <a:solidFill>
                  <a:srgbClr val="CBD5E1"/>
                </a:solidFill>
                <a:latin typeface="Urbanist"/>
                <a:ea typeface="Urbanist"/>
                <a:cs typeface="Urbanist"/>
                <a:sym typeface="Urbanist"/>
              </a:rPr>
              <a:t>:</a:t>
            </a:r>
            <a:r>
              <a:rPr b="0" i="0" lang="en-US" sz="1600" u="none" cap="none" strike="noStrike">
                <a:solidFill>
                  <a:srgbClr val="CBD5E1"/>
                </a:solidFill>
                <a:latin typeface="Urbanist"/>
                <a:ea typeface="Urbanist"/>
                <a:cs typeface="Urbanist"/>
                <a:sym typeface="Urbanist"/>
              </a:rPr>
              <a:t> </a:t>
            </a:r>
            <a:r>
              <a:rPr lang="en-US" sz="1600">
                <a:solidFill>
                  <a:srgbClr val="CBD5E1"/>
                </a:solidFill>
                <a:latin typeface="Urbanist"/>
                <a:ea typeface="Urbanist"/>
                <a:cs typeface="Urbanist"/>
                <a:sym typeface="Urbanist"/>
              </a:rPr>
              <a:t>Soft tyres are fastest but wear quickly, while hard tires are slower but last much longer.</a:t>
            </a:r>
            <a:endParaRPr sz="1500"/>
          </a:p>
        </p:txBody>
      </p:sp>
      <p:sp>
        <p:nvSpPr>
          <p:cNvPr id="111" name="Google Shape;111;p15"/>
          <p:cNvSpPr txBox="1"/>
          <p:nvPr/>
        </p:nvSpPr>
        <p:spPr>
          <a:xfrm>
            <a:off x="857250" y="3239112"/>
            <a:ext cx="4953000" cy="246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00" u="none" cap="none" strike="noStrike">
                <a:solidFill>
                  <a:srgbClr val="CBD5E1"/>
                </a:solidFill>
                <a:latin typeface="Urbanist"/>
                <a:ea typeface="Urbanist"/>
                <a:cs typeface="Urbanist"/>
                <a:sym typeface="Urbanist"/>
              </a:rPr>
              <a:t>The Cost:</a:t>
            </a:r>
            <a:r>
              <a:rPr b="0" i="0" lang="en-US" sz="1600" u="none" cap="none" strike="noStrike">
                <a:solidFill>
                  <a:srgbClr val="CBD5E1"/>
                </a:solidFill>
                <a:latin typeface="Urbanist"/>
                <a:ea typeface="Urbanist"/>
                <a:cs typeface="Urbanist"/>
                <a:sym typeface="Urbanist"/>
              </a:rPr>
              <a:t> A pit stop typically costs </a:t>
            </a:r>
            <a:r>
              <a:rPr lang="en-US" sz="1600">
                <a:solidFill>
                  <a:srgbClr val="CBD5E1"/>
                </a:solidFill>
                <a:latin typeface="Urbanist"/>
                <a:ea typeface="Urbanist"/>
                <a:cs typeface="Urbanist"/>
                <a:sym typeface="Urbanist"/>
              </a:rPr>
              <a:t>10-40 </a:t>
            </a:r>
            <a:r>
              <a:rPr b="0" i="0" lang="en-US" sz="1600" u="none" cap="none" strike="noStrike">
                <a:solidFill>
                  <a:srgbClr val="CBD5E1"/>
                </a:solidFill>
                <a:latin typeface="Urbanist"/>
                <a:ea typeface="Urbanist"/>
                <a:cs typeface="Urbanist"/>
                <a:sym typeface="Urbanist"/>
              </a:rPr>
              <a:t>seconds.</a:t>
            </a:r>
            <a:endParaRPr sz="1500"/>
          </a:p>
        </p:txBody>
      </p:sp>
      <p:sp>
        <p:nvSpPr>
          <p:cNvPr id="112" name="Google Shape;112;p15"/>
          <p:cNvSpPr txBox="1"/>
          <p:nvPr/>
        </p:nvSpPr>
        <p:spPr>
          <a:xfrm>
            <a:off x="851400" y="3649662"/>
            <a:ext cx="4953000" cy="640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00" u="none" cap="none" strike="noStrike">
                <a:solidFill>
                  <a:srgbClr val="CBD5E1"/>
                </a:solidFill>
                <a:latin typeface="Urbanist"/>
                <a:ea typeface="Urbanist"/>
                <a:cs typeface="Urbanist"/>
                <a:sym typeface="Urbanist"/>
              </a:rPr>
              <a:t>The Game:</a:t>
            </a:r>
            <a:r>
              <a:rPr b="0" i="0" lang="en-US" sz="1600" u="none" cap="none" strike="noStrike">
                <a:solidFill>
                  <a:srgbClr val="CBD5E1"/>
                </a:solidFill>
                <a:latin typeface="Urbanist"/>
                <a:ea typeface="Urbanist"/>
                <a:cs typeface="Urbanist"/>
                <a:sym typeface="Urbanist"/>
              </a:rPr>
              <a:t> Timing the switch to minimize time lost and maximize track position (Undercut/Overcut).</a:t>
            </a:r>
            <a:endParaRPr sz="1500"/>
          </a:p>
        </p:txBody>
      </p:sp>
      <p:sp>
        <p:nvSpPr>
          <p:cNvPr id="113" name="Google Shape;113;p15"/>
          <p:cNvSpPr txBox="1"/>
          <p:nvPr/>
        </p:nvSpPr>
        <p:spPr>
          <a:xfrm>
            <a:off x="571500" y="2446337"/>
            <a:ext cx="1143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114" name="Google Shape;114;p15"/>
          <p:cNvSpPr txBox="1"/>
          <p:nvPr/>
        </p:nvSpPr>
        <p:spPr>
          <a:xfrm>
            <a:off x="571500" y="3212712"/>
            <a:ext cx="1143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115" name="Google Shape;115;p15"/>
          <p:cNvSpPr txBox="1"/>
          <p:nvPr/>
        </p:nvSpPr>
        <p:spPr>
          <a:xfrm>
            <a:off x="571500" y="3649662"/>
            <a:ext cx="1143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116" name="Google Shape;116;p15"/>
          <p:cNvSpPr txBox="1"/>
          <p:nvPr/>
        </p:nvSpPr>
        <p:spPr>
          <a:xfrm>
            <a:off x="762000" y="476250"/>
            <a:ext cx="11401500" cy="48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38BDF8"/>
                </a:solidFill>
                <a:latin typeface="Urbanist"/>
                <a:ea typeface="Urbanist"/>
                <a:cs typeface="Urbanist"/>
                <a:sym typeface="Urbanist"/>
              </a:rPr>
              <a:t>THE CONTROLLABLE LEVER</a:t>
            </a:r>
            <a:endParaRPr/>
          </a:p>
        </p:txBody>
      </p:sp>
      <p:sp>
        <p:nvSpPr>
          <p:cNvPr id="117" name="Google Shape;117;p15"/>
          <p:cNvSpPr/>
          <p:nvPr/>
        </p:nvSpPr>
        <p:spPr>
          <a:xfrm>
            <a:off x="571500" y="476250"/>
            <a:ext cx="47625" cy="485775"/>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21" name="Shape 121"/>
        <p:cNvGrpSpPr/>
        <p:nvPr/>
      </p:nvGrpSpPr>
      <p:grpSpPr>
        <a:xfrm>
          <a:off x="0" y="0"/>
          <a:ext cx="0" cy="0"/>
          <a:chOff x="0" y="0"/>
          <a:chExt cx="0" cy="0"/>
        </a:xfrm>
      </p:grpSpPr>
      <p:pic>
        <p:nvPicPr>
          <p:cNvPr descr="image.png" id="122" name="Google Shape;122;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3" name="Google Shape;123;p16"/>
          <p:cNvSpPr txBox="1"/>
          <p:nvPr/>
        </p:nvSpPr>
        <p:spPr>
          <a:xfrm>
            <a:off x="762000" y="47625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38BDF8"/>
                </a:solidFill>
                <a:latin typeface="Urbanist"/>
                <a:ea typeface="Urbanist"/>
                <a:cs typeface="Urbanist"/>
                <a:sym typeface="Urbanist"/>
              </a:rPr>
              <a:t>DATA SOURCE: OPENF1 API</a:t>
            </a:r>
            <a:endParaRPr/>
          </a:p>
        </p:txBody>
      </p:sp>
      <p:sp>
        <p:nvSpPr>
          <p:cNvPr id="124" name="Google Shape;124;p16"/>
          <p:cNvSpPr/>
          <p:nvPr/>
        </p:nvSpPr>
        <p:spPr>
          <a:xfrm>
            <a:off x="571500" y="476250"/>
            <a:ext cx="47625" cy="485775"/>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25" name="Google Shape;125;p16"/>
          <p:cNvPicPr preferRelativeResize="0"/>
          <p:nvPr/>
        </p:nvPicPr>
        <p:blipFill>
          <a:blip r:embed="rId4">
            <a:alphaModFix/>
          </a:blip>
          <a:stretch>
            <a:fillRect/>
          </a:stretch>
        </p:blipFill>
        <p:spPr>
          <a:xfrm>
            <a:off x="819725" y="1138600"/>
            <a:ext cx="10552550" cy="5719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29" name="Shape 129"/>
        <p:cNvGrpSpPr/>
        <p:nvPr/>
      </p:nvGrpSpPr>
      <p:grpSpPr>
        <a:xfrm>
          <a:off x="0" y="0"/>
          <a:ext cx="0" cy="0"/>
          <a:chOff x="0" y="0"/>
          <a:chExt cx="0" cy="0"/>
        </a:xfrm>
      </p:grpSpPr>
      <p:pic>
        <p:nvPicPr>
          <p:cNvPr descr="image.png" id="130" name="Google Shape;130;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1" name="Google Shape;131;p17"/>
          <p:cNvSpPr txBox="1"/>
          <p:nvPr/>
        </p:nvSpPr>
        <p:spPr>
          <a:xfrm>
            <a:off x="762000" y="47625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38BDF8"/>
                </a:solidFill>
                <a:latin typeface="Urbanist"/>
                <a:ea typeface="Urbanist"/>
                <a:cs typeface="Urbanist"/>
                <a:sym typeface="Urbanist"/>
              </a:rPr>
              <a:t>ETL PIPELINE ARCHITECTURE</a:t>
            </a:r>
            <a:endParaRPr/>
          </a:p>
        </p:txBody>
      </p:sp>
      <p:sp>
        <p:nvSpPr>
          <p:cNvPr id="132" name="Google Shape;132;p17"/>
          <p:cNvSpPr/>
          <p:nvPr/>
        </p:nvSpPr>
        <p:spPr>
          <a:xfrm>
            <a:off x="571500" y="476250"/>
            <a:ext cx="47625" cy="485775"/>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33" name="Google Shape;133;p17"/>
          <p:cNvPicPr preferRelativeResize="0"/>
          <p:nvPr/>
        </p:nvPicPr>
        <p:blipFill>
          <a:blip r:embed="rId4">
            <a:alphaModFix/>
          </a:blip>
          <a:stretch>
            <a:fillRect/>
          </a:stretch>
        </p:blipFill>
        <p:spPr>
          <a:xfrm>
            <a:off x="397550" y="1076200"/>
            <a:ext cx="9626574" cy="5368650"/>
          </a:xfrm>
          <a:prstGeom prst="rect">
            <a:avLst/>
          </a:prstGeom>
          <a:noFill/>
          <a:ln>
            <a:noFill/>
          </a:ln>
        </p:spPr>
      </p:pic>
      <p:pic>
        <p:nvPicPr>
          <p:cNvPr id="134" name="Google Shape;134;p17"/>
          <p:cNvPicPr preferRelativeResize="0"/>
          <p:nvPr/>
        </p:nvPicPr>
        <p:blipFill>
          <a:blip r:embed="rId5">
            <a:alphaModFix/>
          </a:blip>
          <a:stretch>
            <a:fillRect/>
          </a:stretch>
        </p:blipFill>
        <p:spPr>
          <a:xfrm>
            <a:off x="9730825" y="2506700"/>
            <a:ext cx="2124075" cy="2400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38" name="Shape 138"/>
        <p:cNvGrpSpPr/>
        <p:nvPr/>
      </p:nvGrpSpPr>
      <p:grpSpPr>
        <a:xfrm>
          <a:off x="0" y="0"/>
          <a:ext cx="0" cy="0"/>
          <a:chOff x="0" y="0"/>
          <a:chExt cx="0" cy="0"/>
        </a:xfrm>
      </p:grpSpPr>
      <p:pic>
        <p:nvPicPr>
          <p:cNvPr descr="image.png" id="139" name="Google Shape;139;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0" name="Google Shape;140;p18"/>
          <p:cNvSpPr txBox="1"/>
          <p:nvPr/>
        </p:nvSpPr>
        <p:spPr>
          <a:xfrm>
            <a:off x="571500" y="2157412"/>
            <a:ext cx="55008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E2E8F0"/>
                </a:solidFill>
                <a:latin typeface="Urbanist"/>
                <a:ea typeface="Urbanist"/>
                <a:cs typeface="Urbanist"/>
                <a:sym typeface="Urbanist"/>
              </a:rPr>
              <a:t>FROM </a:t>
            </a:r>
            <a:r>
              <a:rPr b="1" lang="en-US" sz="1800">
                <a:solidFill>
                  <a:srgbClr val="E2E8F0"/>
                </a:solidFill>
                <a:latin typeface="Urbanist"/>
                <a:ea typeface="Urbanist"/>
                <a:cs typeface="Urbanist"/>
                <a:sym typeface="Urbanist"/>
              </a:rPr>
              <a:t>API ENDPOINTS </a:t>
            </a:r>
            <a:r>
              <a:rPr b="1" i="0" lang="en-US" sz="1800" u="none" cap="none" strike="noStrike">
                <a:solidFill>
                  <a:srgbClr val="E2E8F0"/>
                </a:solidFill>
                <a:latin typeface="Urbanist"/>
                <a:ea typeface="Urbanist"/>
                <a:cs typeface="Urbanist"/>
                <a:sym typeface="Urbanist"/>
              </a:rPr>
              <a:t>TO SQLITE DATABAS</a:t>
            </a:r>
            <a:r>
              <a:rPr b="1" lang="en-US" sz="1800">
                <a:solidFill>
                  <a:srgbClr val="E2E8F0"/>
                </a:solidFill>
                <a:latin typeface="Urbanist"/>
                <a:ea typeface="Urbanist"/>
                <a:cs typeface="Urbanist"/>
                <a:sym typeface="Urbanist"/>
              </a:rPr>
              <a:t>E</a:t>
            </a:r>
            <a:endParaRPr/>
          </a:p>
        </p:txBody>
      </p:sp>
      <p:sp>
        <p:nvSpPr>
          <p:cNvPr id="141" name="Google Shape;141;p18"/>
          <p:cNvSpPr txBox="1"/>
          <p:nvPr/>
        </p:nvSpPr>
        <p:spPr>
          <a:xfrm>
            <a:off x="571500" y="2624137"/>
            <a:ext cx="52389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The transformation process results in a robust relational schema comprising 15+ tables</a:t>
            </a:r>
            <a:r>
              <a:rPr lang="en-US" sz="1500">
                <a:solidFill>
                  <a:srgbClr val="CBD5E1"/>
                </a:solidFill>
                <a:latin typeface="Urbanist"/>
                <a:ea typeface="Urbanist"/>
                <a:cs typeface="Urbanist"/>
                <a:sym typeface="Urbanist"/>
              </a:rPr>
              <a:t>, keep them </a:t>
            </a:r>
            <a:r>
              <a:rPr b="1" lang="en-US" sz="1500">
                <a:solidFill>
                  <a:srgbClr val="CBD5E1"/>
                </a:solidFill>
                <a:latin typeface="Urbanist"/>
                <a:ea typeface="Urbanist"/>
                <a:cs typeface="Urbanist"/>
                <a:sym typeface="Urbanist"/>
              </a:rPr>
              <a:t>independent</a:t>
            </a:r>
            <a:endParaRPr b="1"/>
          </a:p>
        </p:txBody>
      </p:sp>
      <p:sp>
        <p:nvSpPr>
          <p:cNvPr id="142" name="Google Shape;142;p18"/>
          <p:cNvSpPr txBox="1"/>
          <p:nvPr/>
        </p:nvSpPr>
        <p:spPr>
          <a:xfrm>
            <a:off x="571500" y="4814887"/>
            <a:ext cx="523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This structure enables complex joins to answer strategic questions.</a:t>
            </a:r>
            <a:endParaRPr/>
          </a:p>
        </p:txBody>
      </p:sp>
      <p:sp>
        <p:nvSpPr>
          <p:cNvPr id="143" name="Google Shape;143;p18"/>
          <p:cNvSpPr txBox="1"/>
          <p:nvPr/>
        </p:nvSpPr>
        <p:spPr>
          <a:xfrm>
            <a:off x="857250" y="3424237"/>
            <a:ext cx="4953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Core Tables</a:t>
            </a:r>
            <a:r>
              <a:rPr b="1" lang="en-US" sz="1500">
                <a:solidFill>
                  <a:srgbClr val="CBD5E1"/>
                </a:solidFill>
                <a:latin typeface="Urbanist"/>
                <a:ea typeface="Urbanist"/>
                <a:cs typeface="Urbanist"/>
                <a:sym typeface="Urbanist"/>
              </a:rPr>
              <a:t>:</a:t>
            </a:r>
            <a:r>
              <a:rPr b="0" i="0" lang="en-US" sz="1500" u="none" cap="none" strike="noStrike">
                <a:solidFill>
                  <a:srgbClr val="CBD5E1"/>
                </a:solidFill>
                <a:latin typeface="Urbanist"/>
                <a:ea typeface="Urbanist"/>
                <a:cs typeface="Urbanist"/>
                <a:sym typeface="Urbanist"/>
              </a:rPr>
              <a:t>, </a:t>
            </a:r>
            <a:r>
              <a:rPr lang="en-US" sz="1500">
                <a:solidFill>
                  <a:srgbClr val="CBD5E1"/>
                </a:solidFill>
                <a:latin typeface="Urbanist"/>
                <a:ea typeface="Urbanist"/>
                <a:cs typeface="Urbanist"/>
                <a:sym typeface="Urbanist"/>
              </a:rPr>
              <a:t>race_s</a:t>
            </a:r>
            <a:r>
              <a:rPr b="0" i="0" lang="en-US" sz="1500" u="none" cap="none" strike="noStrike">
                <a:solidFill>
                  <a:srgbClr val="CBD5E1"/>
                </a:solidFill>
                <a:latin typeface="Urbanist"/>
                <a:ea typeface="Urbanist"/>
                <a:cs typeface="Urbanist"/>
                <a:sym typeface="Urbanist"/>
              </a:rPr>
              <a:t>essions, Drivers, Teams</a:t>
            </a:r>
            <a:endParaRPr/>
          </a:p>
        </p:txBody>
      </p:sp>
      <p:sp>
        <p:nvSpPr>
          <p:cNvPr id="144" name="Google Shape;144;p18"/>
          <p:cNvSpPr txBox="1"/>
          <p:nvPr/>
        </p:nvSpPr>
        <p:spPr>
          <a:xfrm>
            <a:off x="857250" y="3871912"/>
            <a:ext cx="4953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Event Data:</a:t>
            </a:r>
            <a:r>
              <a:rPr b="0" i="0" lang="en-US" sz="1500" u="none" cap="none" strike="noStrike">
                <a:solidFill>
                  <a:srgbClr val="CBD5E1"/>
                </a:solidFill>
                <a:latin typeface="Urbanist"/>
                <a:ea typeface="Urbanist"/>
                <a:cs typeface="Urbanist"/>
                <a:sym typeface="Urbanist"/>
              </a:rPr>
              <a:t> Laps, Pit_Stops, Stints</a:t>
            </a:r>
            <a:endParaRPr/>
          </a:p>
        </p:txBody>
      </p:sp>
      <p:sp>
        <p:nvSpPr>
          <p:cNvPr id="145" name="Google Shape;145;p18"/>
          <p:cNvSpPr txBox="1"/>
          <p:nvPr/>
        </p:nvSpPr>
        <p:spPr>
          <a:xfrm>
            <a:off x="857250" y="4319587"/>
            <a:ext cx="4953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Context:</a:t>
            </a:r>
            <a:r>
              <a:rPr b="0" i="0" lang="en-US" sz="1500" u="none" cap="none" strike="noStrike">
                <a:solidFill>
                  <a:srgbClr val="CBD5E1"/>
                </a:solidFill>
                <a:latin typeface="Urbanist"/>
                <a:ea typeface="Urbanist"/>
                <a:cs typeface="Urbanist"/>
                <a:sym typeface="Urbanist"/>
              </a:rPr>
              <a:t> Weather, </a:t>
            </a:r>
            <a:r>
              <a:rPr lang="en-US" sz="1500">
                <a:solidFill>
                  <a:srgbClr val="CBD5E1"/>
                </a:solidFill>
                <a:latin typeface="Urbanist"/>
                <a:ea typeface="Urbanist"/>
                <a:cs typeface="Urbanist"/>
                <a:sym typeface="Urbanist"/>
              </a:rPr>
              <a:t>Circuits</a:t>
            </a:r>
            <a:endParaRPr/>
          </a:p>
        </p:txBody>
      </p:sp>
      <p:sp>
        <p:nvSpPr>
          <p:cNvPr id="146" name="Google Shape;146;p18"/>
          <p:cNvSpPr txBox="1"/>
          <p:nvPr/>
        </p:nvSpPr>
        <p:spPr>
          <a:xfrm>
            <a:off x="571500" y="3424237"/>
            <a:ext cx="1143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147" name="Google Shape;147;p18"/>
          <p:cNvSpPr txBox="1"/>
          <p:nvPr/>
        </p:nvSpPr>
        <p:spPr>
          <a:xfrm>
            <a:off x="571500" y="3871912"/>
            <a:ext cx="1143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148" name="Google Shape;148;p18"/>
          <p:cNvSpPr txBox="1"/>
          <p:nvPr/>
        </p:nvSpPr>
        <p:spPr>
          <a:xfrm>
            <a:off x="571500" y="4319587"/>
            <a:ext cx="1143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149" name="Google Shape;149;p18"/>
          <p:cNvSpPr txBox="1"/>
          <p:nvPr/>
        </p:nvSpPr>
        <p:spPr>
          <a:xfrm>
            <a:off x="762000" y="47625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38BDF8"/>
                </a:solidFill>
                <a:latin typeface="Urbanist"/>
                <a:ea typeface="Urbanist"/>
                <a:cs typeface="Urbanist"/>
                <a:sym typeface="Urbanist"/>
              </a:rPr>
              <a:t>STRUCTURED DATABASE</a:t>
            </a:r>
            <a:endParaRPr/>
          </a:p>
        </p:txBody>
      </p:sp>
      <p:sp>
        <p:nvSpPr>
          <p:cNvPr id="150" name="Google Shape;150;p18"/>
          <p:cNvSpPr/>
          <p:nvPr/>
        </p:nvSpPr>
        <p:spPr>
          <a:xfrm>
            <a:off x="571500" y="476250"/>
            <a:ext cx="47625" cy="485775"/>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51" name="Google Shape;151;p18"/>
          <p:cNvPicPr preferRelativeResize="0"/>
          <p:nvPr/>
        </p:nvPicPr>
        <p:blipFill>
          <a:blip r:embed="rId4">
            <a:alphaModFix/>
          </a:blip>
          <a:stretch>
            <a:fillRect/>
          </a:stretch>
        </p:blipFill>
        <p:spPr>
          <a:xfrm>
            <a:off x="6331925" y="1230900"/>
            <a:ext cx="4714575" cy="5141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5" name="Shape 155"/>
        <p:cNvGrpSpPr/>
        <p:nvPr/>
      </p:nvGrpSpPr>
      <p:grpSpPr>
        <a:xfrm>
          <a:off x="0" y="0"/>
          <a:ext cx="0" cy="0"/>
          <a:chOff x="0" y="0"/>
          <a:chExt cx="0" cy="0"/>
        </a:xfrm>
      </p:grpSpPr>
      <p:pic>
        <p:nvPicPr>
          <p:cNvPr descr="image.png" id="156" name="Google Shape;156;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7" name="Google Shape;157;p19"/>
          <p:cNvPicPr preferRelativeResize="0"/>
          <p:nvPr/>
        </p:nvPicPr>
        <p:blipFill rotWithShape="1">
          <a:blip r:embed="rId4">
            <a:alphaModFix/>
          </a:blip>
          <a:srcRect b="0" l="0" r="0" t="0"/>
          <a:stretch/>
        </p:blipFill>
        <p:spPr>
          <a:xfrm>
            <a:off x="571500" y="1343025"/>
            <a:ext cx="5334000" cy="5038725"/>
          </a:xfrm>
          <a:prstGeom prst="rect">
            <a:avLst/>
          </a:prstGeom>
          <a:noFill/>
          <a:ln>
            <a:noFill/>
          </a:ln>
        </p:spPr>
      </p:pic>
      <p:pic>
        <p:nvPicPr>
          <p:cNvPr descr="image.png" id="158" name="Google Shape;158;p19"/>
          <p:cNvPicPr preferRelativeResize="0"/>
          <p:nvPr/>
        </p:nvPicPr>
        <p:blipFill rotWithShape="1">
          <a:blip r:embed="rId5">
            <a:alphaModFix/>
          </a:blip>
          <a:srcRect b="0" l="0" r="0" t="0"/>
          <a:stretch/>
        </p:blipFill>
        <p:spPr>
          <a:xfrm>
            <a:off x="6286500" y="1343025"/>
            <a:ext cx="5334000" cy="5038725"/>
          </a:xfrm>
          <a:prstGeom prst="rect">
            <a:avLst/>
          </a:prstGeom>
          <a:noFill/>
          <a:ln>
            <a:noFill/>
          </a:ln>
        </p:spPr>
      </p:pic>
      <p:sp>
        <p:nvSpPr>
          <p:cNvPr id="159" name="Google Shape;159;p19"/>
          <p:cNvSpPr txBox="1"/>
          <p:nvPr/>
        </p:nvSpPr>
        <p:spPr>
          <a:xfrm>
            <a:off x="962025" y="1733550"/>
            <a:ext cx="4780597" cy="276225"/>
          </a:xfrm>
          <a:prstGeom prst="rect">
            <a:avLst/>
          </a:prstGeom>
          <a:noFill/>
          <a:ln>
            <a:noFill/>
          </a:ln>
        </p:spPr>
        <p:txBody>
          <a:bodyPr anchorCtr="0" anchor="t" bIns="0" lIns="297200" spcFirstLastPara="1" rIns="0" wrap="square" tIns="0">
            <a:spAutoFit/>
          </a:bodyPr>
          <a:lstStyle/>
          <a:p>
            <a:pPr indent="0" lvl="0" marL="0" marR="0" rtl="0" algn="l">
              <a:spcBef>
                <a:spcPts val="0"/>
              </a:spcBef>
              <a:spcAft>
                <a:spcPts val="0"/>
              </a:spcAft>
              <a:buNone/>
            </a:pPr>
            <a:r>
              <a:rPr b="1" i="0" lang="en-US" sz="1800" u="none" cap="none" strike="noStrike">
                <a:solidFill>
                  <a:srgbClr val="EF4444"/>
                </a:solidFill>
                <a:latin typeface="Urbanist"/>
                <a:ea typeface="Urbanist"/>
                <a:cs typeface="Urbanist"/>
                <a:sym typeface="Urbanist"/>
              </a:rPr>
              <a:t>STRATEGY METRICS</a:t>
            </a:r>
            <a:endParaRPr/>
          </a:p>
        </p:txBody>
      </p:sp>
      <p:sp>
        <p:nvSpPr>
          <p:cNvPr id="160" name="Google Shape;160;p19"/>
          <p:cNvSpPr txBox="1"/>
          <p:nvPr/>
        </p:nvSpPr>
        <p:spPr>
          <a:xfrm>
            <a:off x="6677025" y="1733550"/>
            <a:ext cx="4780597" cy="276225"/>
          </a:xfrm>
          <a:prstGeom prst="rect">
            <a:avLst/>
          </a:prstGeom>
          <a:noFill/>
          <a:ln>
            <a:noFill/>
          </a:ln>
        </p:spPr>
        <p:txBody>
          <a:bodyPr anchorCtr="0" anchor="t" bIns="0" lIns="240050" spcFirstLastPara="1" rIns="0" wrap="square" tIns="0">
            <a:spAutoFit/>
          </a:bodyPr>
          <a:lstStyle/>
          <a:p>
            <a:pPr indent="0" lvl="0" marL="0" marR="0" rtl="0" algn="l">
              <a:spcBef>
                <a:spcPts val="0"/>
              </a:spcBef>
              <a:spcAft>
                <a:spcPts val="0"/>
              </a:spcAft>
              <a:buNone/>
            </a:pPr>
            <a:r>
              <a:rPr b="1" i="0" lang="en-US" sz="1800" u="none" cap="none" strike="noStrike">
                <a:solidFill>
                  <a:srgbClr val="38BDF8"/>
                </a:solidFill>
                <a:latin typeface="Urbanist"/>
                <a:ea typeface="Urbanist"/>
                <a:cs typeface="Urbanist"/>
                <a:sym typeface="Urbanist"/>
              </a:rPr>
              <a:t>PERFORMANCE METRICS</a:t>
            </a:r>
            <a:endParaRPr/>
          </a:p>
        </p:txBody>
      </p:sp>
      <p:pic>
        <p:nvPicPr>
          <p:cNvPr descr="image.png" id="161" name="Google Shape;161;p19"/>
          <p:cNvPicPr preferRelativeResize="0"/>
          <p:nvPr/>
        </p:nvPicPr>
        <p:blipFill rotWithShape="1">
          <a:blip r:embed="rId6">
            <a:alphaModFix/>
          </a:blip>
          <a:srcRect b="0" l="0" r="0" t="0"/>
          <a:stretch/>
        </p:blipFill>
        <p:spPr>
          <a:xfrm>
            <a:off x="962025" y="1752600"/>
            <a:ext cx="297209" cy="228600"/>
          </a:xfrm>
          <a:prstGeom prst="rect">
            <a:avLst/>
          </a:prstGeom>
          <a:noFill/>
          <a:ln>
            <a:noFill/>
          </a:ln>
        </p:spPr>
      </p:pic>
      <p:sp>
        <p:nvSpPr>
          <p:cNvPr id="162" name="Google Shape;162;p19"/>
          <p:cNvSpPr txBox="1"/>
          <p:nvPr/>
        </p:nvSpPr>
        <p:spPr>
          <a:xfrm>
            <a:off x="1247775" y="2162175"/>
            <a:ext cx="42672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Tire Sequences:</a:t>
            </a:r>
            <a:r>
              <a:rPr b="0" i="0" lang="en-US" sz="1500" u="none" cap="none" strike="noStrike">
                <a:solidFill>
                  <a:srgbClr val="CBD5E1"/>
                </a:solidFill>
                <a:latin typeface="Urbanist"/>
                <a:ea typeface="Urbanist"/>
                <a:cs typeface="Urbanist"/>
                <a:sym typeface="Urbanist"/>
              </a:rPr>
              <a:t> Reconstructing the chain (e.g., Soft → Medium → Hard).</a:t>
            </a:r>
            <a:endParaRPr/>
          </a:p>
        </p:txBody>
      </p:sp>
      <p:sp>
        <p:nvSpPr>
          <p:cNvPr id="163" name="Google Shape;163;p19"/>
          <p:cNvSpPr txBox="1"/>
          <p:nvPr/>
        </p:nvSpPr>
        <p:spPr>
          <a:xfrm>
            <a:off x="1247775" y="2828700"/>
            <a:ext cx="42672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Stop Spacing:</a:t>
            </a:r>
            <a:r>
              <a:rPr b="0" i="0" lang="en-US" sz="1500" u="none" cap="none" strike="noStrike">
                <a:solidFill>
                  <a:srgbClr val="CBD5E1"/>
                </a:solidFill>
                <a:latin typeface="Urbanist"/>
                <a:ea typeface="Urbanist"/>
                <a:cs typeface="Urbanist"/>
                <a:sym typeface="Urbanist"/>
              </a:rPr>
              <a:t> Analysis of stint length distribution relative to rivals.</a:t>
            </a:r>
            <a:endParaRPr/>
          </a:p>
        </p:txBody>
      </p:sp>
      <p:pic>
        <p:nvPicPr>
          <p:cNvPr descr="image.png" id="164" name="Google Shape;164;p19"/>
          <p:cNvPicPr preferRelativeResize="0"/>
          <p:nvPr/>
        </p:nvPicPr>
        <p:blipFill rotWithShape="1">
          <a:blip r:embed="rId7">
            <a:alphaModFix/>
          </a:blip>
          <a:srcRect b="0" l="0" r="0" t="0"/>
          <a:stretch/>
        </p:blipFill>
        <p:spPr>
          <a:xfrm>
            <a:off x="6677025" y="1752600"/>
            <a:ext cx="240059" cy="228600"/>
          </a:xfrm>
          <a:prstGeom prst="rect">
            <a:avLst/>
          </a:prstGeom>
          <a:noFill/>
          <a:ln>
            <a:noFill/>
          </a:ln>
        </p:spPr>
      </p:pic>
      <p:sp>
        <p:nvSpPr>
          <p:cNvPr id="165" name="Google Shape;165;p19"/>
          <p:cNvSpPr txBox="1"/>
          <p:nvPr/>
        </p:nvSpPr>
        <p:spPr>
          <a:xfrm>
            <a:off x="6962775" y="2162175"/>
            <a:ext cx="42672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166" name="Google Shape;166;p19"/>
          <p:cNvSpPr txBox="1"/>
          <p:nvPr/>
        </p:nvSpPr>
        <p:spPr>
          <a:xfrm>
            <a:off x="6962775" y="2240425"/>
            <a:ext cx="42672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Pace Delta:</a:t>
            </a:r>
            <a:r>
              <a:rPr b="0" i="0" lang="en-US" sz="1500" u="none" cap="none" strike="noStrike">
                <a:solidFill>
                  <a:srgbClr val="CBD5E1"/>
                </a:solidFill>
                <a:latin typeface="Urbanist"/>
                <a:ea typeface="Urbanist"/>
                <a:cs typeface="Urbanist"/>
                <a:sym typeface="Urbanist"/>
              </a:rPr>
              <a:t> Avg lap time before vs. after pit stop.</a:t>
            </a:r>
            <a:endParaRPr/>
          </a:p>
        </p:txBody>
      </p:sp>
      <p:sp>
        <p:nvSpPr>
          <p:cNvPr id="167" name="Google Shape;167;p19"/>
          <p:cNvSpPr txBox="1"/>
          <p:nvPr/>
        </p:nvSpPr>
        <p:spPr>
          <a:xfrm>
            <a:off x="6962775" y="2688100"/>
            <a:ext cx="42672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Position Delta:</a:t>
            </a:r>
            <a:r>
              <a:rPr b="0" i="0" lang="en-US" sz="1500" u="none" cap="none" strike="noStrike">
                <a:solidFill>
                  <a:srgbClr val="CBD5E1"/>
                </a:solidFill>
                <a:latin typeface="Urbanist"/>
                <a:ea typeface="Urbanist"/>
                <a:cs typeface="Urbanist"/>
                <a:sym typeface="Urbanist"/>
              </a:rPr>
              <a:t> Grid Position vs. Final Position (The ultimate measure of success).</a:t>
            </a:r>
            <a:endParaRPr/>
          </a:p>
        </p:txBody>
      </p:sp>
      <p:sp>
        <p:nvSpPr>
          <p:cNvPr id="168" name="Google Shape;168;p19"/>
          <p:cNvSpPr txBox="1"/>
          <p:nvPr/>
        </p:nvSpPr>
        <p:spPr>
          <a:xfrm>
            <a:off x="962025" y="2162175"/>
            <a:ext cx="1143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169" name="Google Shape;169;p19"/>
          <p:cNvSpPr txBox="1"/>
          <p:nvPr/>
        </p:nvSpPr>
        <p:spPr>
          <a:xfrm>
            <a:off x="962025" y="2828700"/>
            <a:ext cx="1143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170" name="Google Shape;170;p19"/>
          <p:cNvSpPr txBox="1"/>
          <p:nvPr/>
        </p:nvSpPr>
        <p:spPr>
          <a:xfrm>
            <a:off x="6677025" y="2162175"/>
            <a:ext cx="1143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171" name="Google Shape;171;p19"/>
          <p:cNvSpPr txBox="1"/>
          <p:nvPr/>
        </p:nvSpPr>
        <p:spPr>
          <a:xfrm>
            <a:off x="6677025" y="2240425"/>
            <a:ext cx="1143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172" name="Google Shape;172;p19"/>
          <p:cNvSpPr txBox="1"/>
          <p:nvPr/>
        </p:nvSpPr>
        <p:spPr>
          <a:xfrm>
            <a:off x="6677025" y="2688100"/>
            <a:ext cx="1143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173" name="Google Shape;173;p19"/>
          <p:cNvSpPr txBox="1"/>
          <p:nvPr/>
        </p:nvSpPr>
        <p:spPr>
          <a:xfrm>
            <a:off x="762000" y="476250"/>
            <a:ext cx="11401425"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38BDF8"/>
                </a:solidFill>
                <a:latin typeface="Urbanist"/>
                <a:ea typeface="Urbanist"/>
                <a:cs typeface="Urbanist"/>
                <a:sym typeface="Urbanist"/>
              </a:rPr>
              <a:t>FEATURE ENGINEERING</a:t>
            </a:r>
            <a:endParaRPr/>
          </a:p>
        </p:txBody>
      </p:sp>
      <p:sp>
        <p:nvSpPr>
          <p:cNvPr id="174" name="Google Shape;174;p19"/>
          <p:cNvSpPr/>
          <p:nvPr/>
        </p:nvSpPr>
        <p:spPr>
          <a:xfrm>
            <a:off x="571500" y="476250"/>
            <a:ext cx="47625" cy="485775"/>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78" name="Shape 178"/>
        <p:cNvGrpSpPr/>
        <p:nvPr/>
      </p:nvGrpSpPr>
      <p:grpSpPr>
        <a:xfrm>
          <a:off x="0" y="0"/>
          <a:ext cx="0" cy="0"/>
          <a:chOff x="0" y="0"/>
          <a:chExt cx="0" cy="0"/>
        </a:xfrm>
      </p:grpSpPr>
      <p:pic>
        <p:nvPicPr>
          <p:cNvPr descr="image.png" id="179" name="Google Shape;179;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0" name="Google Shape;180;p20"/>
          <p:cNvSpPr txBox="1"/>
          <p:nvPr/>
        </p:nvSpPr>
        <p:spPr>
          <a:xfrm>
            <a:off x="571500" y="1637112"/>
            <a:ext cx="55008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2E8F0"/>
                </a:solidFill>
                <a:latin typeface="Urbanist"/>
                <a:ea typeface="Urbanist"/>
                <a:cs typeface="Urbanist"/>
                <a:sym typeface="Urbanist"/>
              </a:rPr>
              <a:t>SETTING UP DOCKER AND AIRFLOW</a:t>
            </a:r>
            <a:endParaRPr/>
          </a:p>
        </p:txBody>
      </p:sp>
      <p:sp>
        <p:nvSpPr>
          <p:cNvPr id="181" name="Google Shape;181;p20"/>
          <p:cNvSpPr txBox="1"/>
          <p:nvPr/>
        </p:nvSpPr>
        <p:spPr>
          <a:xfrm>
            <a:off x="571500" y="2103825"/>
            <a:ext cx="5238900" cy="4188300"/>
          </a:xfrm>
          <a:prstGeom prst="rect">
            <a:avLst/>
          </a:prstGeom>
          <a:noFill/>
          <a:ln>
            <a:noFill/>
          </a:ln>
        </p:spPr>
        <p:txBody>
          <a:bodyPr anchorCtr="0" anchor="t" bIns="0" lIns="0" spcFirstLastPara="1" rIns="0" wrap="square" tIns="0">
            <a:spAutoFit/>
          </a:bodyPr>
          <a:lstStyle/>
          <a:p>
            <a:pPr indent="0" lvl="0" marL="0" rtl="0" algn="l">
              <a:lnSpc>
                <a:spcPct val="160000"/>
              </a:lnSpc>
              <a:spcBef>
                <a:spcPts val="0"/>
              </a:spcBef>
              <a:spcAft>
                <a:spcPts val="0"/>
              </a:spcAft>
              <a:buNone/>
            </a:pPr>
            <a:r>
              <a:rPr b="1" lang="en-US" sz="1700">
                <a:solidFill>
                  <a:srgbClr val="CBD5E1"/>
                </a:solidFill>
                <a:highlight>
                  <a:srgbClr val="0E172A"/>
                </a:highlight>
                <a:latin typeface="Urbanist"/>
                <a:ea typeface="Urbanist"/>
                <a:cs typeface="Urbanist"/>
                <a:sym typeface="Urbanist"/>
              </a:rPr>
              <a:t>Packaged the full ETL pipeline </a:t>
            </a:r>
            <a:r>
              <a:rPr lang="en-US" sz="1700">
                <a:solidFill>
                  <a:srgbClr val="CBD5E1"/>
                </a:solidFill>
                <a:highlight>
                  <a:srgbClr val="0E172A"/>
                </a:highlight>
                <a:latin typeface="Urbanist"/>
                <a:ea typeface="Urbanist"/>
                <a:cs typeface="Urbanist"/>
                <a:sym typeface="Urbanist"/>
              </a:rPr>
              <a:t>(scripts, dependencies, environment) into Docker containers.</a:t>
            </a:r>
            <a:endParaRPr sz="1700">
              <a:solidFill>
                <a:srgbClr val="CBD5E1"/>
              </a:solidFill>
              <a:highlight>
                <a:srgbClr val="0E172A"/>
              </a:highlight>
              <a:latin typeface="Urbanist"/>
              <a:ea typeface="Urbanist"/>
              <a:cs typeface="Urbanist"/>
              <a:sym typeface="Urbanist"/>
            </a:endParaRPr>
          </a:p>
          <a:p>
            <a:pPr indent="0" lvl="0" marL="0" rtl="0" algn="l">
              <a:lnSpc>
                <a:spcPct val="160000"/>
              </a:lnSpc>
              <a:spcBef>
                <a:spcPts val="1500"/>
              </a:spcBef>
              <a:spcAft>
                <a:spcPts val="0"/>
              </a:spcAft>
              <a:buNone/>
            </a:pPr>
            <a:r>
              <a:rPr b="1" lang="en-US" sz="1700">
                <a:solidFill>
                  <a:srgbClr val="CBD5E1"/>
                </a:solidFill>
                <a:highlight>
                  <a:srgbClr val="0E172A"/>
                </a:highlight>
                <a:latin typeface="Urbanist"/>
                <a:ea typeface="Urbanist"/>
                <a:cs typeface="Urbanist"/>
                <a:sym typeface="Urbanist"/>
              </a:rPr>
              <a:t>Orchestrated the workflow with Airflow,</a:t>
            </a:r>
            <a:r>
              <a:rPr lang="en-US" sz="1700">
                <a:solidFill>
                  <a:srgbClr val="CBD5E1"/>
                </a:solidFill>
                <a:highlight>
                  <a:srgbClr val="0E172A"/>
                </a:highlight>
                <a:latin typeface="Urbanist"/>
                <a:ea typeface="Urbanist"/>
                <a:cs typeface="Urbanist"/>
                <a:sym typeface="Urbanist"/>
              </a:rPr>
              <a:t> managing task dependencies, scheduling, logging, and automatic retries for stability.</a:t>
            </a:r>
            <a:endParaRPr sz="1700">
              <a:solidFill>
                <a:srgbClr val="CBD5E1"/>
              </a:solidFill>
              <a:highlight>
                <a:srgbClr val="0E172A"/>
              </a:highlight>
              <a:latin typeface="Urbanist"/>
              <a:ea typeface="Urbanist"/>
              <a:cs typeface="Urbanist"/>
              <a:sym typeface="Urbanist"/>
            </a:endParaRPr>
          </a:p>
          <a:p>
            <a:pPr indent="0" lvl="0" marL="0" rtl="0" algn="l">
              <a:lnSpc>
                <a:spcPct val="160000"/>
              </a:lnSpc>
              <a:spcBef>
                <a:spcPts val="1500"/>
              </a:spcBef>
              <a:spcAft>
                <a:spcPts val="0"/>
              </a:spcAft>
              <a:buNone/>
            </a:pPr>
            <a:r>
              <a:rPr b="1" lang="en-US" sz="1700">
                <a:solidFill>
                  <a:srgbClr val="CBD5E1"/>
                </a:solidFill>
                <a:highlight>
                  <a:srgbClr val="0E172A"/>
                </a:highlight>
                <a:latin typeface="Urbanist"/>
                <a:ea typeface="Urbanist"/>
                <a:cs typeface="Urbanist"/>
                <a:sym typeface="Urbanist"/>
              </a:rPr>
              <a:t>Implemented auto-routing in the DAG</a:t>
            </a:r>
            <a:r>
              <a:rPr lang="en-US" sz="1700">
                <a:solidFill>
                  <a:srgbClr val="CBD5E1"/>
                </a:solidFill>
                <a:highlight>
                  <a:srgbClr val="0E172A"/>
                </a:highlight>
                <a:latin typeface="Urbanist"/>
                <a:ea typeface="Urbanist"/>
                <a:cs typeface="Urbanist"/>
                <a:sym typeface="Urbanist"/>
              </a:rPr>
              <a:t>—the pipeline performs a full load on first run and switches to incremental updates when data already exists.</a:t>
            </a:r>
            <a:endParaRPr sz="1700">
              <a:solidFill>
                <a:srgbClr val="CBD5E1"/>
              </a:solidFill>
              <a:highlight>
                <a:srgbClr val="0E172A"/>
              </a:highlight>
              <a:latin typeface="Urbanist"/>
              <a:ea typeface="Urbanist"/>
              <a:cs typeface="Urbanist"/>
              <a:sym typeface="Urbanist"/>
            </a:endParaRPr>
          </a:p>
          <a:p>
            <a:pPr indent="0" lvl="0" marL="0" rtl="0" algn="l">
              <a:lnSpc>
                <a:spcPct val="160000"/>
              </a:lnSpc>
              <a:spcBef>
                <a:spcPts val="1500"/>
              </a:spcBef>
              <a:spcAft>
                <a:spcPts val="1500"/>
              </a:spcAft>
              <a:buNone/>
            </a:pPr>
            <a:r>
              <a:t/>
            </a:r>
            <a:endParaRPr sz="1700">
              <a:solidFill>
                <a:srgbClr val="CBD5E1"/>
              </a:solidFill>
              <a:highlight>
                <a:srgbClr val="0E172A"/>
              </a:highlight>
              <a:latin typeface="Urbanist"/>
              <a:ea typeface="Urbanist"/>
              <a:cs typeface="Urbanist"/>
              <a:sym typeface="Urbanist"/>
            </a:endParaRPr>
          </a:p>
        </p:txBody>
      </p:sp>
      <p:sp>
        <p:nvSpPr>
          <p:cNvPr id="182" name="Google Shape;182;p20"/>
          <p:cNvSpPr txBox="1"/>
          <p:nvPr/>
        </p:nvSpPr>
        <p:spPr>
          <a:xfrm>
            <a:off x="762000" y="476250"/>
            <a:ext cx="114015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150">
                <a:solidFill>
                  <a:srgbClr val="38BDF8"/>
                </a:solidFill>
                <a:latin typeface="Urbanist"/>
                <a:ea typeface="Urbanist"/>
                <a:cs typeface="Urbanist"/>
                <a:sym typeface="Urbanist"/>
              </a:rPr>
              <a:t>DOCKER AND AIRFLOW</a:t>
            </a:r>
            <a:endParaRPr/>
          </a:p>
        </p:txBody>
      </p:sp>
      <p:sp>
        <p:nvSpPr>
          <p:cNvPr id="183" name="Google Shape;183;p20"/>
          <p:cNvSpPr/>
          <p:nvPr/>
        </p:nvSpPr>
        <p:spPr>
          <a:xfrm>
            <a:off x="571500" y="476250"/>
            <a:ext cx="47700" cy="485700"/>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84" name="Google Shape;184;p20"/>
          <p:cNvPicPr preferRelativeResize="0"/>
          <p:nvPr/>
        </p:nvPicPr>
        <p:blipFill>
          <a:blip r:embed="rId4">
            <a:alphaModFix/>
          </a:blip>
          <a:stretch>
            <a:fillRect/>
          </a:stretch>
        </p:blipFill>
        <p:spPr>
          <a:xfrm>
            <a:off x="6692379" y="1637101"/>
            <a:ext cx="4761467" cy="47005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88" name="Shape 188"/>
        <p:cNvGrpSpPr/>
        <p:nvPr/>
      </p:nvGrpSpPr>
      <p:grpSpPr>
        <a:xfrm>
          <a:off x="0" y="0"/>
          <a:ext cx="0" cy="0"/>
          <a:chOff x="0" y="0"/>
          <a:chExt cx="0" cy="0"/>
        </a:xfrm>
      </p:grpSpPr>
      <p:pic>
        <p:nvPicPr>
          <p:cNvPr descr="image.png" id="189" name="Google Shape;189;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0" name="Google Shape;190;p21"/>
          <p:cNvSpPr txBox="1"/>
          <p:nvPr/>
        </p:nvSpPr>
        <p:spPr>
          <a:xfrm>
            <a:off x="571500" y="1209675"/>
            <a:ext cx="5200650"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38BDF8"/>
                </a:solidFill>
                <a:latin typeface="Urbanist"/>
                <a:ea typeface="Urbanist"/>
                <a:cs typeface="Urbanist"/>
                <a:sym typeface="Urbanist"/>
              </a:rPr>
              <a:t>LIVE DEMO</a:t>
            </a:r>
            <a:endParaRPr/>
          </a:p>
        </p:txBody>
      </p:sp>
      <p:sp>
        <p:nvSpPr>
          <p:cNvPr id="191" name="Google Shape;191;p21"/>
          <p:cNvSpPr txBox="1"/>
          <p:nvPr/>
        </p:nvSpPr>
        <p:spPr>
          <a:xfrm>
            <a:off x="571500" y="2171700"/>
            <a:ext cx="4953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We will now demonstrate the </a:t>
            </a:r>
            <a:r>
              <a:rPr lang="en-US" sz="1500">
                <a:solidFill>
                  <a:srgbClr val="CBD5E1"/>
                </a:solidFill>
                <a:latin typeface="Urbanist"/>
                <a:ea typeface="Urbanist"/>
                <a:cs typeface="Urbanist"/>
                <a:sym typeface="Urbanist"/>
              </a:rPr>
              <a:t>our Streamlit dashboard</a:t>
            </a:r>
            <a:endParaRPr/>
          </a:p>
        </p:txBody>
      </p:sp>
      <p:sp>
        <p:nvSpPr>
          <p:cNvPr id="192" name="Google Shape;192;p21"/>
          <p:cNvSpPr txBox="1"/>
          <p:nvPr/>
        </p:nvSpPr>
        <p:spPr>
          <a:xfrm>
            <a:off x="571500" y="5200650"/>
            <a:ext cx="4953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8BDF8"/>
                </a:solidFill>
                <a:latin typeface="Urbanist"/>
                <a:ea typeface="Urbanist"/>
                <a:cs typeface="Urbanist"/>
                <a:sym typeface="Urbanist"/>
              </a:rPr>
              <a:t>See how the data tells the story of the race.</a:t>
            </a:r>
            <a:endParaRPr/>
          </a:p>
        </p:txBody>
      </p:sp>
      <p:pic>
        <p:nvPicPr>
          <p:cNvPr descr="image.png" id="193" name="Google Shape;193;p21"/>
          <p:cNvPicPr preferRelativeResize="0"/>
          <p:nvPr/>
        </p:nvPicPr>
        <p:blipFill rotWithShape="1">
          <a:blip r:embed="rId4">
            <a:alphaModFix/>
          </a:blip>
          <a:srcRect b="0" l="0" r="0" t="0"/>
          <a:stretch/>
        </p:blipFill>
        <p:spPr>
          <a:xfrm>
            <a:off x="6096000" y="0"/>
            <a:ext cx="6096000" cy="6858000"/>
          </a:xfrm>
          <a:prstGeom prst="rect">
            <a:avLst/>
          </a:prstGeom>
          <a:noFill/>
          <a:ln>
            <a:noFill/>
          </a:ln>
        </p:spPr>
      </p:pic>
      <p:sp>
        <p:nvSpPr>
          <p:cNvPr id="194" name="Google Shape;194;p21"/>
          <p:cNvSpPr txBox="1"/>
          <p:nvPr/>
        </p:nvSpPr>
        <p:spPr>
          <a:xfrm>
            <a:off x="857250" y="3114675"/>
            <a:ext cx="46672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Timeline Visualization:</a:t>
            </a:r>
            <a:r>
              <a:rPr b="0" i="0" lang="en-US" sz="1500" u="none" cap="none" strike="noStrike">
                <a:solidFill>
                  <a:srgbClr val="CBD5E1"/>
                </a:solidFill>
                <a:latin typeface="Urbanist"/>
                <a:ea typeface="Urbanist"/>
                <a:cs typeface="Urbanist"/>
                <a:sym typeface="Urbanist"/>
              </a:rPr>
              <a:t> Driver's full pit-stop timeline.</a:t>
            </a:r>
            <a:endParaRPr/>
          </a:p>
        </p:txBody>
      </p:sp>
      <p:sp>
        <p:nvSpPr>
          <p:cNvPr id="195" name="Google Shape;195;p21"/>
          <p:cNvSpPr txBox="1"/>
          <p:nvPr/>
        </p:nvSpPr>
        <p:spPr>
          <a:xfrm>
            <a:off x="857250" y="3562350"/>
            <a:ext cx="46672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Stint Analysis:</a:t>
            </a:r>
            <a:r>
              <a:rPr b="0" i="0" lang="en-US" sz="1500" u="none" cap="none" strike="noStrike">
                <a:solidFill>
                  <a:srgbClr val="CBD5E1"/>
                </a:solidFill>
                <a:latin typeface="Urbanist"/>
                <a:ea typeface="Urbanist"/>
                <a:cs typeface="Urbanist"/>
                <a:sym typeface="Urbanist"/>
              </a:rPr>
              <a:t> Visualizing pace drops and compound transitions.</a:t>
            </a:r>
            <a:endParaRPr/>
          </a:p>
        </p:txBody>
      </p:sp>
      <p:sp>
        <p:nvSpPr>
          <p:cNvPr id="196" name="Google Shape;196;p21"/>
          <p:cNvSpPr txBox="1"/>
          <p:nvPr/>
        </p:nvSpPr>
        <p:spPr>
          <a:xfrm>
            <a:off x="857250" y="4314825"/>
            <a:ext cx="46672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Head-to-Head:</a:t>
            </a:r>
            <a:r>
              <a:rPr b="0" i="0" lang="en-US" sz="1500" u="none" cap="none" strike="noStrike">
                <a:solidFill>
                  <a:srgbClr val="CBD5E1"/>
                </a:solidFill>
                <a:latin typeface="Urbanist"/>
                <a:ea typeface="Urbanist"/>
                <a:cs typeface="Urbanist"/>
                <a:sym typeface="Urbanist"/>
              </a:rPr>
              <a:t> Comparing 1-stop vs. 2-stop strategies.</a:t>
            </a:r>
            <a:endParaRPr/>
          </a:p>
        </p:txBody>
      </p:sp>
      <p:sp>
        <p:nvSpPr>
          <p:cNvPr id="197" name="Google Shape;197;p21"/>
          <p:cNvSpPr txBox="1"/>
          <p:nvPr/>
        </p:nvSpPr>
        <p:spPr>
          <a:xfrm>
            <a:off x="571500" y="3114675"/>
            <a:ext cx="1143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198" name="Google Shape;198;p21"/>
          <p:cNvSpPr txBox="1"/>
          <p:nvPr/>
        </p:nvSpPr>
        <p:spPr>
          <a:xfrm>
            <a:off x="571500" y="3562350"/>
            <a:ext cx="1143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199" name="Google Shape;199;p21"/>
          <p:cNvSpPr txBox="1"/>
          <p:nvPr/>
        </p:nvSpPr>
        <p:spPr>
          <a:xfrm>
            <a:off x="571500" y="4314825"/>
            <a:ext cx="1143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03" name="Shape 203"/>
        <p:cNvGrpSpPr/>
        <p:nvPr/>
      </p:nvGrpSpPr>
      <p:grpSpPr>
        <a:xfrm>
          <a:off x="0" y="0"/>
          <a:ext cx="0" cy="0"/>
          <a:chOff x="0" y="0"/>
          <a:chExt cx="0" cy="0"/>
        </a:xfrm>
      </p:grpSpPr>
      <p:pic>
        <p:nvPicPr>
          <p:cNvPr descr="image.png" id="204" name="Google Shape;204;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5" name="Google Shape;205;p22"/>
          <p:cNvPicPr preferRelativeResize="0"/>
          <p:nvPr/>
        </p:nvPicPr>
        <p:blipFill rotWithShape="1">
          <a:blip r:embed="rId4">
            <a:alphaModFix/>
          </a:blip>
          <a:srcRect b="0" l="0" r="0" t="0"/>
          <a:stretch/>
        </p:blipFill>
        <p:spPr>
          <a:xfrm>
            <a:off x="555950" y="4676375"/>
            <a:ext cx="8690926" cy="1838725"/>
          </a:xfrm>
          <a:prstGeom prst="rect">
            <a:avLst/>
          </a:prstGeom>
          <a:noFill/>
          <a:ln>
            <a:noFill/>
          </a:ln>
        </p:spPr>
      </p:pic>
      <p:sp>
        <p:nvSpPr>
          <p:cNvPr id="206" name="Google Shape;206;p22"/>
          <p:cNvSpPr txBox="1"/>
          <p:nvPr/>
        </p:nvSpPr>
        <p:spPr>
          <a:xfrm>
            <a:off x="762000" y="4792250"/>
            <a:ext cx="7747500" cy="149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lt1"/>
                </a:solidFill>
              </a:rPr>
              <a:t>Medium tyres dominate across all humidity levels, staying consistently high—suggesting teams treat Mediums as the safest, most versatile opening tyre regardless of conditions. This is similar for when plotting tyre proportion against any other weather variables. However, in the humidity plot, we can see that soft tyre usage is highly erratic. It spikes at certain humidity levels but no clear trend, meaning humidity alone doesn’t drive Soft selection. Hard tyres remain rare overall but show slight increases at very high humidity, possibly as a durability hedge.</a:t>
            </a:r>
            <a:endParaRPr sz="1100">
              <a:solidFill>
                <a:schemeClr val="lt1"/>
              </a:solidFill>
            </a:endParaRPr>
          </a:p>
          <a:p>
            <a:pPr indent="0" lvl="0" marL="0" rtl="0" algn="l">
              <a:lnSpc>
                <a:spcPct val="115000"/>
              </a:lnSpc>
              <a:spcBef>
                <a:spcPts val="1200"/>
              </a:spcBef>
              <a:spcAft>
                <a:spcPts val="1200"/>
              </a:spcAft>
              <a:buSzPts val="1100"/>
              <a:buNone/>
            </a:pPr>
            <a:r>
              <a:rPr lang="en-US" sz="1100">
                <a:solidFill>
                  <a:schemeClr val="lt1"/>
                </a:solidFill>
              </a:rPr>
              <a:t>Overall, the wide oscillations across all compounds show </a:t>
            </a:r>
            <a:r>
              <a:rPr b="1" lang="en-US" sz="1100">
                <a:solidFill>
                  <a:schemeClr val="lt1"/>
                </a:solidFill>
              </a:rPr>
              <a:t>no strong linear relationship between humidity and opening-stint tyre choice</a:t>
            </a:r>
            <a:r>
              <a:rPr lang="en-US" sz="1100">
                <a:solidFill>
                  <a:schemeClr val="lt1"/>
                </a:solidFill>
              </a:rPr>
              <a:t>. Still, humidity is one of the more influential factors among the weather variables.</a:t>
            </a:r>
            <a:endParaRPr b="1" sz="1500">
              <a:solidFill>
                <a:schemeClr val="lt1"/>
              </a:solidFill>
              <a:latin typeface="Urbanist"/>
              <a:ea typeface="Urbanist"/>
              <a:cs typeface="Urbanist"/>
              <a:sym typeface="Urbanist"/>
            </a:endParaRPr>
          </a:p>
        </p:txBody>
      </p:sp>
      <p:sp>
        <p:nvSpPr>
          <p:cNvPr id="207" name="Google Shape;207;p22"/>
          <p:cNvSpPr txBox="1"/>
          <p:nvPr/>
        </p:nvSpPr>
        <p:spPr>
          <a:xfrm>
            <a:off x="6962775" y="2162175"/>
            <a:ext cx="42672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208" name="Google Shape;208;p22"/>
          <p:cNvSpPr txBox="1"/>
          <p:nvPr/>
        </p:nvSpPr>
        <p:spPr>
          <a:xfrm>
            <a:off x="962025" y="2162175"/>
            <a:ext cx="1143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209" name="Google Shape;209;p22"/>
          <p:cNvSpPr txBox="1"/>
          <p:nvPr/>
        </p:nvSpPr>
        <p:spPr>
          <a:xfrm>
            <a:off x="6677025" y="2162175"/>
            <a:ext cx="1143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210" name="Google Shape;210;p22"/>
          <p:cNvSpPr txBox="1"/>
          <p:nvPr/>
        </p:nvSpPr>
        <p:spPr>
          <a:xfrm>
            <a:off x="6677025" y="2240425"/>
            <a:ext cx="1143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211" name="Google Shape;211;p22"/>
          <p:cNvSpPr txBox="1"/>
          <p:nvPr/>
        </p:nvSpPr>
        <p:spPr>
          <a:xfrm>
            <a:off x="762000" y="476250"/>
            <a:ext cx="114015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150">
                <a:solidFill>
                  <a:srgbClr val="38BDF8"/>
                </a:solidFill>
                <a:latin typeface="Urbanist"/>
                <a:ea typeface="Urbanist"/>
                <a:cs typeface="Urbanist"/>
                <a:sym typeface="Urbanist"/>
              </a:rPr>
              <a:t>FINDINGS</a:t>
            </a:r>
            <a:endParaRPr/>
          </a:p>
        </p:txBody>
      </p:sp>
      <p:sp>
        <p:nvSpPr>
          <p:cNvPr id="212" name="Google Shape;212;p22"/>
          <p:cNvSpPr/>
          <p:nvPr/>
        </p:nvSpPr>
        <p:spPr>
          <a:xfrm>
            <a:off x="571500" y="476250"/>
            <a:ext cx="47700" cy="485700"/>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13" name="Google Shape;213;p22"/>
          <p:cNvPicPr preferRelativeResize="0"/>
          <p:nvPr/>
        </p:nvPicPr>
        <p:blipFill>
          <a:blip r:embed="rId5">
            <a:alphaModFix/>
          </a:blip>
          <a:stretch>
            <a:fillRect/>
          </a:stretch>
        </p:blipFill>
        <p:spPr>
          <a:xfrm>
            <a:off x="555950" y="1248225"/>
            <a:ext cx="7947976" cy="31418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17" name="Shape 217"/>
        <p:cNvGrpSpPr/>
        <p:nvPr/>
      </p:nvGrpSpPr>
      <p:grpSpPr>
        <a:xfrm>
          <a:off x="0" y="0"/>
          <a:ext cx="0" cy="0"/>
          <a:chOff x="0" y="0"/>
          <a:chExt cx="0" cy="0"/>
        </a:xfrm>
      </p:grpSpPr>
      <p:pic>
        <p:nvPicPr>
          <p:cNvPr descr="image.png" id="218" name="Google Shape;218;p23"/>
          <p:cNvPicPr preferRelativeResize="0"/>
          <p:nvPr/>
        </p:nvPicPr>
        <p:blipFill rotWithShape="1">
          <a:blip r:embed="rId3">
            <a:alphaModFix/>
          </a:blip>
          <a:srcRect b="0" l="0" r="0" t="0"/>
          <a:stretch/>
        </p:blipFill>
        <p:spPr>
          <a:xfrm>
            <a:off x="366751" y="0"/>
            <a:ext cx="12192000" cy="6858000"/>
          </a:xfrm>
          <a:prstGeom prst="rect">
            <a:avLst/>
          </a:prstGeom>
          <a:noFill/>
          <a:ln>
            <a:noFill/>
          </a:ln>
        </p:spPr>
      </p:pic>
      <p:pic>
        <p:nvPicPr>
          <p:cNvPr descr="image.png" id="219" name="Google Shape;219;p23"/>
          <p:cNvPicPr preferRelativeResize="0"/>
          <p:nvPr/>
        </p:nvPicPr>
        <p:blipFill rotWithShape="1">
          <a:blip r:embed="rId4">
            <a:alphaModFix/>
          </a:blip>
          <a:srcRect b="0" l="0" r="0" t="0"/>
          <a:stretch/>
        </p:blipFill>
        <p:spPr>
          <a:xfrm>
            <a:off x="6791325" y="476251"/>
            <a:ext cx="5608350" cy="6190275"/>
          </a:xfrm>
          <a:prstGeom prst="rect">
            <a:avLst/>
          </a:prstGeom>
          <a:noFill/>
          <a:ln>
            <a:noFill/>
          </a:ln>
        </p:spPr>
      </p:pic>
      <p:sp>
        <p:nvSpPr>
          <p:cNvPr id="220" name="Google Shape;220;p23"/>
          <p:cNvSpPr txBox="1"/>
          <p:nvPr/>
        </p:nvSpPr>
        <p:spPr>
          <a:xfrm>
            <a:off x="7598425" y="733000"/>
            <a:ext cx="1984500" cy="277200"/>
          </a:xfrm>
          <a:prstGeom prst="rect">
            <a:avLst/>
          </a:prstGeom>
          <a:noFill/>
          <a:ln>
            <a:noFill/>
          </a:ln>
        </p:spPr>
        <p:txBody>
          <a:bodyPr anchorCtr="0" anchor="t" bIns="0" lIns="240050" spcFirstLastPara="1" rIns="0" wrap="square" tIns="0">
            <a:spAutoFit/>
          </a:bodyPr>
          <a:lstStyle/>
          <a:p>
            <a:pPr indent="0" lvl="0" marL="0" marR="0" rtl="0" algn="l">
              <a:spcBef>
                <a:spcPts val="0"/>
              </a:spcBef>
              <a:spcAft>
                <a:spcPts val="0"/>
              </a:spcAft>
              <a:buNone/>
            </a:pPr>
            <a:r>
              <a:rPr b="1" lang="en-US" sz="1800">
                <a:solidFill>
                  <a:srgbClr val="38BDF8"/>
                </a:solidFill>
                <a:latin typeface="Urbanist"/>
                <a:ea typeface="Urbanist"/>
                <a:cs typeface="Urbanist"/>
                <a:sym typeface="Urbanist"/>
              </a:rPr>
              <a:t>Pit stop insights</a:t>
            </a:r>
            <a:endParaRPr/>
          </a:p>
        </p:txBody>
      </p:sp>
      <p:pic>
        <p:nvPicPr>
          <p:cNvPr descr="image.png" id="221" name="Google Shape;221;p23"/>
          <p:cNvPicPr preferRelativeResize="0"/>
          <p:nvPr/>
        </p:nvPicPr>
        <p:blipFill rotWithShape="1">
          <a:blip r:embed="rId5">
            <a:alphaModFix/>
          </a:blip>
          <a:srcRect b="0" l="0" r="0" t="0"/>
          <a:stretch/>
        </p:blipFill>
        <p:spPr>
          <a:xfrm>
            <a:off x="7133900" y="733350"/>
            <a:ext cx="240059" cy="228600"/>
          </a:xfrm>
          <a:prstGeom prst="rect">
            <a:avLst/>
          </a:prstGeom>
          <a:noFill/>
          <a:ln>
            <a:noFill/>
          </a:ln>
        </p:spPr>
      </p:pic>
      <p:sp>
        <p:nvSpPr>
          <p:cNvPr id="222" name="Google Shape;222;p23"/>
          <p:cNvSpPr txBox="1"/>
          <p:nvPr/>
        </p:nvSpPr>
        <p:spPr>
          <a:xfrm>
            <a:off x="6677025" y="2162175"/>
            <a:ext cx="1143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223" name="Google Shape;223;p23"/>
          <p:cNvSpPr txBox="1"/>
          <p:nvPr/>
        </p:nvSpPr>
        <p:spPr>
          <a:xfrm>
            <a:off x="762000" y="476250"/>
            <a:ext cx="55299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150">
                <a:solidFill>
                  <a:srgbClr val="38BDF8"/>
                </a:solidFill>
                <a:latin typeface="Urbanist"/>
                <a:ea typeface="Urbanist"/>
                <a:cs typeface="Urbanist"/>
                <a:sym typeface="Urbanist"/>
              </a:rPr>
              <a:t>FINDINGS</a:t>
            </a:r>
            <a:endParaRPr/>
          </a:p>
        </p:txBody>
      </p:sp>
      <p:sp>
        <p:nvSpPr>
          <p:cNvPr id="224" name="Google Shape;224;p23"/>
          <p:cNvSpPr/>
          <p:nvPr/>
        </p:nvSpPr>
        <p:spPr>
          <a:xfrm>
            <a:off x="571500" y="476250"/>
            <a:ext cx="47700" cy="485700"/>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25" name="Google Shape;225;p23"/>
          <p:cNvPicPr preferRelativeResize="0"/>
          <p:nvPr/>
        </p:nvPicPr>
        <p:blipFill>
          <a:blip r:embed="rId6">
            <a:alphaModFix/>
          </a:blip>
          <a:stretch>
            <a:fillRect/>
          </a:stretch>
        </p:blipFill>
        <p:spPr>
          <a:xfrm>
            <a:off x="168650" y="1628100"/>
            <a:ext cx="6508375" cy="4048641"/>
          </a:xfrm>
          <a:prstGeom prst="rect">
            <a:avLst/>
          </a:prstGeom>
          <a:noFill/>
          <a:ln>
            <a:noFill/>
          </a:ln>
        </p:spPr>
      </p:pic>
      <p:sp>
        <p:nvSpPr>
          <p:cNvPr id="226" name="Google Shape;226;p23"/>
          <p:cNvSpPr txBox="1"/>
          <p:nvPr/>
        </p:nvSpPr>
        <p:spPr>
          <a:xfrm>
            <a:off x="6869825" y="1176975"/>
            <a:ext cx="55299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300">
                <a:solidFill>
                  <a:schemeClr val="lt1"/>
                </a:solidFill>
              </a:rPr>
              <a:t>McLaren has the fastest and most consistent pit stops</a:t>
            </a:r>
            <a:endParaRPr b="1" sz="1300">
              <a:solidFill>
                <a:schemeClr val="lt1"/>
              </a:solidFill>
            </a:endParaRPr>
          </a:p>
          <a:p>
            <a:pPr indent="0" lvl="0" marL="0" rtl="0" algn="l">
              <a:spcBef>
                <a:spcPts val="0"/>
              </a:spcBef>
              <a:spcAft>
                <a:spcPts val="0"/>
              </a:spcAft>
              <a:buNone/>
            </a:pPr>
            <a:r>
              <a:rPr lang="en-US" sz="1300">
                <a:solidFill>
                  <a:schemeClr val="lt1"/>
                </a:solidFill>
              </a:rPr>
              <a:t>McLaren’s box is the </a:t>
            </a:r>
            <a:r>
              <a:rPr b="1" lang="en-US" sz="1300">
                <a:solidFill>
                  <a:schemeClr val="lt1"/>
                </a:solidFill>
              </a:rPr>
              <a:t>lowest</a:t>
            </a:r>
            <a:r>
              <a:rPr lang="en-US" sz="1300">
                <a:solidFill>
                  <a:schemeClr val="lt1"/>
                </a:solidFill>
              </a:rPr>
              <a:t> and </a:t>
            </a:r>
            <a:r>
              <a:rPr b="1" lang="en-US" sz="1300">
                <a:solidFill>
                  <a:schemeClr val="lt1"/>
                </a:solidFill>
              </a:rPr>
              <a:t>tightest</a:t>
            </a:r>
            <a:r>
              <a:rPr lang="en-US" sz="1300">
                <a:solidFill>
                  <a:schemeClr val="lt1"/>
                </a:solidFill>
              </a:rPr>
              <a:t>, indicating both </a:t>
            </a:r>
            <a:r>
              <a:rPr b="1" lang="en-US" sz="1300">
                <a:solidFill>
                  <a:schemeClr val="lt1"/>
                </a:solidFill>
              </a:rPr>
              <a:t>short durations</a:t>
            </a:r>
            <a:r>
              <a:rPr lang="en-US" sz="1300">
                <a:solidFill>
                  <a:schemeClr val="lt1"/>
                </a:solidFill>
              </a:rPr>
              <a:t> and </a:t>
            </a:r>
            <a:r>
              <a:rPr b="1" lang="en-US" sz="1300">
                <a:solidFill>
                  <a:schemeClr val="lt1"/>
                </a:solidFill>
              </a:rPr>
              <a:t>low variability</a:t>
            </a:r>
            <a:r>
              <a:rPr lang="en-US" sz="1300">
                <a:solidFill>
                  <a:schemeClr val="lt1"/>
                </a:solidFill>
              </a:rPr>
              <a:t>.</a:t>
            </a:r>
            <a:br>
              <a:rPr lang="en-US" sz="1300">
                <a:solidFill>
                  <a:schemeClr val="lt1"/>
                </a:solidFill>
              </a:rPr>
            </a:br>
            <a:r>
              <a:rPr lang="en-US" sz="1300">
                <a:solidFill>
                  <a:schemeClr val="lt1"/>
                </a:solidFill>
              </a:rPr>
              <a:t>They have very few high outliers — a sign of strong operational discipline.</a:t>
            </a:r>
            <a:endParaRPr sz="1300">
              <a:solidFill>
                <a:schemeClr val="lt1"/>
              </a:solidFill>
            </a:endParaRPr>
          </a:p>
        </p:txBody>
      </p:sp>
      <p:sp>
        <p:nvSpPr>
          <p:cNvPr id="227" name="Google Shape;227;p23"/>
          <p:cNvSpPr txBox="1"/>
          <p:nvPr/>
        </p:nvSpPr>
        <p:spPr>
          <a:xfrm>
            <a:off x="6804488" y="2408551"/>
            <a:ext cx="501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lt1"/>
                </a:solidFill>
              </a:rPr>
              <a:t>Haas, Kick Sauber, and Williams show greater variability</a:t>
            </a:r>
            <a:endParaRPr b="1">
              <a:solidFill>
                <a:schemeClr val="lt1"/>
              </a:solidFill>
            </a:endParaRPr>
          </a:p>
        </p:txBody>
      </p:sp>
      <p:sp>
        <p:nvSpPr>
          <p:cNvPr id="228" name="Google Shape;228;p23"/>
          <p:cNvSpPr txBox="1"/>
          <p:nvPr/>
        </p:nvSpPr>
        <p:spPr>
          <a:xfrm>
            <a:off x="6804500" y="2643899"/>
            <a:ext cx="52683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solidFill>
                  <a:schemeClr val="lt1"/>
                </a:solidFill>
              </a:rPr>
              <a:t>These teams have </a:t>
            </a:r>
            <a:r>
              <a:rPr b="1" lang="en-US" sz="1300">
                <a:solidFill>
                  <a:schemeClr val="lt1"/>
                </a:solidFill>
              </a:rPr>
              <a:t>taller boxes</a:t>
            </a:r>
            <a:r>
              <a:rPr lang="en-US" sz="1300">
                <a:solidFill>
                  <a:schemeClr val="lt1"/>
                </a:solidFill>
              </a:rPr>
              <a:t> and </a:t>
            </a:r>
            <a:r>
              <a:rPr b="1" lang="en-US" sz="1300">
                <a:solidFill>
                  <a:schemeClr val="lt1"/>
                </a:solidFill>
              </a:rPr>
              <a:t>more extreme outliers</a:t>
            </a:r>
            <a:r>
              <a:rPr lang="en-US" sz="1300">
                <a:solidFill>
                  <a:schemeClr val="lt1"/>
                </a:solidFill>
              </a:rPr>
              <a:t>, especially above 50–70 seconds.</a:t>
            </a:r>
            <a:br>
              <a:rPr lang="en-US" sz="1300">
                <a:solidFill>
                  <a:schemeClr val="lt1"/>
                </a:solidFill>
              </a:rPr>
            </a:br>
            <a:r>
              <a:rPr lang="en-US" sz="1300">
                <a:solidFill>
                  <a:schemeClr val="lt1"/>
                </a:solidFill>
              </a:rPr>
              <a:t>Their median pit stop times are also slightly higher.</a:t>
            </a:r>
            <a:endParaRPr sz="1300">
              <a:solidFill>
                <a:schemeClr val="lt1"/>
              </a:solidFill>
            </a:endParaRPr>
          </a:p>
        </p:txBody>
      </p:sp>
      <p:sp>
        <p:nvSpPr>
          <p:cNvPr id="229" name="Google Shape;229;p23"/>
          <p:cNvSpPr txBox="1"/>
          <p:nvPr/>
        </p:nvSpPr>
        <p:spPr>
          <a:xfrm>
            <a:off x="6804500" y="3501400"/>
            <a:ext cx="5268300" cy="168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300">
                <a:solidFill>
                  <a:schemeClr val="lt1"/>
                </a:solidFill>
              </a:rPr>
              <a:t>Racing Bulls and Alpine fall in a mid-tier: stable but not the fastest</a:t>
            </a:r>
            <a:endParaRPr b="1" sz="1300">
              <a:solidFill>
                <a:schemeClr val="lt1"/>
              </a:solidFill>
            </a:endParaRPr>
          </a:p>
          <a:p>
            <a:pPr indent="0" lvl="0" marL="0" rtl="0" algn="l">
              <a:lnSpc>
                <a:spcPct val="115000"/>
              </a:lnSpc>
              <a:spcBef>
                <a:spcPts val="1400"/>
              </a:spcBef>
              <a:spcAft>
                <a:spcPts val="400"/>
              </a:spcAft>
              <a:buNone/>
            </a:pPr>
            <a:r>
              <a:rPr lang="en-US" sz="1300">
                <a:solidFill>
                  <a:schemeClr val="lt1"/>
                </a:solidFill>
              </a:rPr>
              <a:t>Their medians are around the mid-20s.</a:t>
            </a:r>
            <a:br>
              <a:rPr lang="en-US" sz="1300">
                <a:solidFill>
                  <a:schemeClr val="lt1"/>
                </a:solidFill>
              </a:rPr>
            </a:br>
            <a:r>
              <a:rPr lang="en-US" sz="1300">
                <a:solidFill>
                  <a:schemeClr val="lt1"/>
                </a:solidFill>
              </a:rPr>
              <a:t>Variability is moderate, with fewer very slow outliers compared to Haas or Kick Sauber.</a:t>
            </a:r>
            <a:br>
              <a:rPr lang="en-US" sz="1100">
                <a:solidFill>
                  <a:schemeClr val="lt1"/>
                </a:solidFill>
              </a:rPr>
            </a:br>
            <a:endParaRPr sz="1100">
              <a:solidFill>
                <a:schemeClr val="lt1"/>
              </a:solidFill>
            </a:endParaRPr>
          </a:p>
        </p:txBody>
      </p:sp>
      <p:sp>
        <p:nvSpPr>
          <p:cNvPr id="230" name="Google Shape;230;p23"/>
          <p:cNvSpPr txBox="1"/>
          <p:nvPr/>
        </p:nvSpPr>
        <p:spPr>
          <a:xfrm>
            <a:off x="6777426" y="4910075"/>
            <a:ext cx="5121900" cy="145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300">
                <a:solidFill>
                  <a:schemeClr val="lt1"/>
                </a:solidFill>
              </a:rPr>
              <a:t>Mercedes and Red Bull: competitive but with occasional long-duration stops</a:t>
            </a:r>
            <a:endParaRPr b="1" sz="1300">
              <a:solidFill>
                <a:schemeClr val="lt1"/>
              </a:solidFill>
            </a:endParaRPr>
          </a:p>
          <a:p>
            <a:pPr indent="0" lvl="0" marL="0" rtl="0" algn="l">
              <a:lnSpc>
                <a:spcPct val="115000"/>
              </a:lnSpc>
              <a:spcBef>
                <a:spcPts val="1200"/>
              </a:spcBef>
              <a:spcAft>
                <a:spcPts val="1200"/>
              </a:spcAft>
              <a:buNone/>
            </a:pPr>
            <a:r>
              <a:rPr lang="en-US" sz="1300">
                <a:solidFill>
                  <a:schemeClr val="lt1"/>
                </a:solidFill>
              </a:rPr>
              <a:t>Typical pit stops hover in the same range as the mid-tier teams.</a:t>
            </a:r>
            <a:br>
              <a:rPr lang="en-US" sz="1300">
                <a:solidFill>
                  <a:schemeClr val="lt1"/>
                </a:solidFill>
              </a:rPr>
            </a:br>
            <a:r>
              <a:rPr lang="en-US" sz="1300">
                <a:solidFill>
                  <a:schemeClr val="lt1"/>
                </a:solidFill>
              </a:rPr>
              <a:t>A couple of very high outliers (~70–90 seconds) suggest race incidents or major issues.</a:t>
            </a:r>
            <a:endParaRPr sz="13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34" name="Shape 234"/>
        <p:cNvGrpSpPr/>
        <p:nvPr/>
      </p:nvGrpSpPr>
      <p:grpSpPr>
        <a:xfrm>
          <a:off x="0" y="0"/>
          <a:ext cx="0" cy="0"/>
          <a:chOff x="0" y="0"/>
          <a:chExt cx="0" cy="0"/>
        </a:xfrm>
      </p:grpSpPr>
      <p:pic>
        <p:nvPicPr>
          <p:cNvPr descr="image.png" id="235" name="Google Shape;235;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6" name="Google Shape;236;p24"/>
          <p:cNvPicPr preferRelativeResize="0"/>
          <p:nvPr/>
        </p:nvPicPr>
        <p:blipFill rotWithShape="1">
          <a:blip r:embed="rId4">
            <a:alphaModFix/>
          </a:blip>
          <a:srcRect b="0" l="0" r="0" t="0"/>
          <a:stretch/>
        </p:blipFill>
        <p:spPr>
          <a:xfrm>
            <a:off x="571500" y="1343025"/>
            <a:ext cx="7370125" cy="5038725"/>
          </a:xfrm>
          <a:prstGeom prst="rect">
            <a:avLst/>
          </a:prstGeom>
          <a:noFill/>
          <a:ln>
            <a:noFill/>
          </a:ln>
        </p:spPr>
      </p:pic>
      <p:sp>
        <p:nvSpPr>
          <p:cNvPr id="237" name="Google Shape;237;p24"/>
          <p:cNvSpPr txBox="1"/>
          <p:nvPr/>
        </p:nvSpPr>
        <p:spPr>
          <a:xfrm>
            <a:off x="962025" y="1733550"/>
            <a:ext cx="4780500" cy="554100"/>
          </a:xfrm>
          <a:prstGeom prst="rect">
            <a:avLst/>
          </a:prstGeom>
          <a:noFill/>
          <a:ln>
            <a:noFill/>
          </a:ln>
        </p:spPr>
        <p:txBody>
          <a:bodyPr anchorCtr="0" anchor="t" bIns="0" lIns="297200" spcFirstLastPara="1" rIns="0" wrap="square" tIns="0">
            <a:spAutoFit/>
          </a:bodyPr>
          <a:lstStyle/>
          <a:p>
            <a:pPr indent="0" lvl="0" marL="0" marR="0" rtl="0" algn="l">
              <a:spcBef>
                <a:spcPts val="0"/>
              </a:spcBef>
              <a:spcAft>
                <a:spcPts val="0"/>
              </a:spcAft>
              <a:buNone/>
            </a:pPr>
            <a:r>
              <a:rPr b="1" i="0" lang="en-US" sz="1800" u="none" cap="none" strike="noStrike">
                <a:solidFill>
                  <a:srgbClr val="EF4444"/>
                </a:solidFill>
                <a:latin typeface="Urbanist"/>
                <a:ea typeface="Urbanist"/>
                <a:cs typeface="Urbanist"/>
                <a:sym typeface="Urbanist"/>
              </a:rPr>
              <a:t>TYRE STINTS MAP</a:t>
            </a:r>
            <a:endParaRPr b="1" i="0" sz="1800" u="none" cap="none" strike="noStrike">
              <a:solidFill>
                <a:srgbClr val="EF4444"/>
              </a:solidFill>
              <a:latin typeface="Urbanist"/>
              <a:ea typeface="Urbanist"/>
              <a:cs typeface="Urbanist"/>
              <a:sym typeface="Urbanist"/>
            </a:endParaRPr>
          </a:p>
          <a:p>
            <a:pPr indent="0" lvl="0" marL="0" marR="0" rtl="0" algn="l">
              <a:spcBef>
                <a:spcPts val="0"/>
              </a:spcBef>
              <a:spcAft>
                <a:spcPts val="0"/>
              </a:spcAft>
              <a:buNone/>
            </a:pPr>
            <a:r>
              <a:t/>
            </a:r>
            <a:endParaRPr b="1" sz="1800">
              <a:solidFill>
                <a:srgbClr val="EF4444"/>
              </a:solidFill>
              <a:latin typeface="Urbanist"/>
              <a:ea typeface="Urbanist"/>
              <a:cs typeface="Urbanist"/>
              <a:sym typeface="Urbanist"/>
            </a:endParaRPr>
          </a:p>
        </p:txBody>
      </p:sp>
      <p:pic>
        <p:nvPicPr>
          <p:cNvPr descr="image.png" id="238" name="Google Shape;238;p24"/>
          <p:cNvPicPr preferRelativeResize="0"/>
          <p:nvPr/>
        </p:nvPicPr>
        <p:blipFill rotWithShape="1">
          <a:blip r:embed="rId5">
            <a:alphaModFix/>
          </a:blip>
          <a:srcRect b="0" l="0" r="0" t="0"/>
          <a:stretch/>
        </p:blipFill>
        <p:spPr>
          <a:xfrm>
            <a:off x="962025" y="1752600"/>
            <a:ext cx="297209" cy="228600"/>
          </a:xfrm>
          <a:prstGeom prst="rect">
            <a:avLst/>
          </a:prstGeom>
          <a:noFill/>
          <a:ln>
            <a:noFill/>
          </a:ln>
        </p:spPr>
      </p:pic>
      <p:sp>
        <p:nvSpPr>
          <p:cNvPr id="239" name="Google Shape;239;p24"/>
          <p:cNvSpPr txBox="1"/>
          <p:nvPr/>
        </p:nvSpPr>
        <p:spPr>
          <a:xfrm>
            <a:off x="962025" y="2162175"/>
            <a:ext cx="6732300" cy="3925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500">
                <a:solidFill>
                  <a:srgbClr val="CBD5E1"/>
                </a:solidFill>
                <a:latin typeface="Urbanist"/>
                <a:ea typeface="Urbanist"/>
                <a:cs typeface="Urbanist"/>
                <a:sym typeface="Urbanist"/>
              </a:rPr>
              <a:t>These plots visualize tyre compound usage by each driver across different race sessions, showing when they switched between different tyres. Each session represents a different race with unique strategies and conditions.</a:t>
            </a:r>
            <a:endParaRPr sz="1500">
              <a:solidFill>
                <a:srgbClr val="CBD5E1"/>
              </a:solidFill>
              <a:latin typeface="Urbanist"/>
              <a:ea typeface="Urbanist"/>
              <a:cs typeface="Urbanist"/>
              <a:sym typeface="Urbanist"/>
            </a:endParaRPr>
          </a:p>
          <a:p>
            <a:pPr indent="-323850" lvl="0" marL="457200" marR="0" rtl="0" algn="l">
              <a:lnSpc>
                <a:spcPct val="160000"/>
              </a:lnSpc>
              <a:spcBef>
                <a:spcPts val="0"/>
              </a:spcBef>
              <a:spcAft>
                <a:spcPts val="0"/>
              </a:spcAft>
              <a:buClr>
                <a:srgbClr val="CBD5E1"/>
              </a:buClr>
              <a:buSzPts val="1500"/>
              <a:buFont typeface="Urbanist"/>
              <a:buChar char="●"/>
            </a:pPr>
            <a:r>
              <a:rPr lang="en-US" sz="1500">
                <a:solidFill>
                  <a:srgbClr val="CBD5E1"/>
                </a:solidFill>
                <a:latin typeface="Urbanist"/>
                <a:ea typeface="Urbanist"/>
                <a:cs typeface="Urbanist"/>
                <a:sym typeface="Urbanist"/>
              </a:rPr>
              <a:t>Tyre choices and stint lengths vary notably between sessions, reflecting differences in track surface, temperature, and race dynamics.</a:t>
            </a:r>
            <a:endParaRPr sz="1500">
              <a:solidFill>
                <a:srgbClr val="CBD5E1"/>
              </a:solidFill>
              <a:latin typeface="Urbanist"/>
              <a:ea typeface="Urbanist"/>
              <a:cs typeface="Urbanist"/>
              <a:sym typeface="Urbanist"/>
            </a:endParaRPr>
          </a:p>
          <a:p>
            <a:pPr indent="-323850" lvl="0" marL="457200" marR="0" rtl="0" algn="l">
              <a:lnSpc>
                <a:spcPct val="160000"/>
              </a:lnSpc>
              <a:spcBef>
                <a:spcPts val="0"/>
              </a:spcBef>
              <a:spcAft>
                <a:spcPts val="0"/>
              </a:spcAft>
              <a:buClr>
                <a:srgbClr val="CBD5E1"/>
              </a:buClr>
              <a:buSzPts val="1500"/>
              <a:buFont typeface="Urbanist"/>
              <a:buChar char="●"/>
            </a:pPr>
            <a:r>
              <a:rPr lang="en-US" sz="1500">
                <a:solidFill>
                  <a:srgbClr val="CBD5E1"/>
                </a:solidFill>
                <a:latin typeface="Urbanist"/>
                <a:ea typeface="Urbanist"/>
                <a:cs typeface="Urbanist"/>
                <a:sym typeface="Urbanist"/>
              </a:rPr>
              <a:t>Some races show uniform hard-tyre strategies, while others feature frequent compound changes, indicating more aggressive or adaptive pit strategies.</a:t>
            </a:r>
            <a:endParaRPr sz="1500">
              <a:solidFill>
                <a:srgbClr val="CBD5E1"/>
              </a:solidFill>
              <a:latin typeface="Urbanist"/>
              <a:ea typeface="Urbanist"/>
              <a:cs typeface="Urbanist"/>
              <a:sym typeface="Urbanist"/>
            </a:endParaRPr>
          </a:p>
          <a:p>
            <a:pPr indent="-323850" lvl="0" marL="457200" marR="0" rtl="0" algn="l">
              <a:lnSpc>
                <a:spcPct val="160000"/>
              </a:lnSpc>
              <a:spcBef>
                <a:spcPts val="0"/>
              </a:spcBef>
              <a:spcAft>
                <a:spcPts val="0"/>
              </a:spcAft>
              <a:buClr>
                <a:srgbClr val="CBD5E1"/>
              </a:buClr>
              <a:buSzPts val="1500"/>
              <a:buFont typeface="Urbanist"/>
              <a:buChar char="●"/>
            </a:pPr>
            <a:r>
              <a:rPr lang="en-US" sz="1500">
                <a:solidFill>
                  <a:srgbClr val="CBD5E1"/>
                </a:solidFill>
                <a:latin typeface="Urbanist"/>
                <a:ea typeface="Urbanist"/>
                <a:cs typeface="Urbanist"/>
                <a:sym typeface="Urbanist"/>
              </a:rPr>
              <a:t>Overall, the maps highlight how teams balance tyre life and performance to suit each race’s specific context.</a:t>
            </a:r>
            <a:endParaRPr sz="1500">
              <a:solidFill>
                <a:srgbClr val="CBD5E1"/>
              </a:solidFill>
              <a:latin typeface="Urbanist"/>
              <a:ea typeface="Urbanist"/>
              <a:cs typeface="Urbanist"/>
              <a:sym typeface="Urbanist"/>
            </a:endParaRPr>
          </a:p>
          <a:p>
            <a:pPr indent="0" lvl="0" marL="0" marR="0" rtl="0" algn="l">
              <a:lnSpc>
                <a:spcPct val="160000"/>
              </a:lnSpc>
              <a:spcBef>
                <a:spcPts val="0"/>
              </a:spcBef>
              <a:spcAft>
                <a:spcPts val="0"/>
              </a:spcAft>
              <a:buNone/>
            </a:pPr>
            <a:r>
              <a:t/>
            </a:r>
            <a:endParaRPr b="1" sz="1500">
              <a:solidFill>
                <a:srgbClr val="CBD5E1"/>
              </a:solidFill>
              <a:latin typeface="Urbanist"/>
              <a:ea typeface="Urbanist"/>
              <a:cs typeface="Urbanist"/>
              <a:sym typeface="Urbanist"/>
            </a:endParaRPr>
          </a:p>
        </p:txBody>
      </p:sp>
      <p:sp>
        <p:nvSpPr>
          <p:cNvPr id="240" name="Google Shape;240;p24"/>
          <p:cNvSpPr txBox="1"/>
          <p:nvPr/>
        </p:nvSpPr>
        <p:spPr>
          <a:xfrm>
            <a:off x="6677025" y="2162175"/>
            <a:ext cx="1143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241" name="Google Shape;241;p24"/>
          <p:cNvSpPr txBox="1"/>
          <p:nvPr/>
        </p:nvSpPr>
        <p:spPr>
          <a:xfrm>
            <a:off x="762000" y="476250"/>
            <a:ext cx="114015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150">
                <a:solidFill>
                  <a:srgbClr val="38BDF8"/>
                </a:solidFill>
                <a:latin typeface="Urbanist"/>
                <a:ea typeface="Urbanist"/>
                <a:cs typeface="Urbanist"/>
                <a:sym typeface="Urbanist"/>
              </a:rPr>
              <a:t>FINDINGS</a:t>
            </a:r>
            <a:endParaRPr/>
          </a:p>
        </p:txBody>
      </p:sp>
      <p:sp>
        <p:nvSpPr>
          <p:cNvPr id="242" name="Google Shape;242;p24"/>
          <p:cNvSpPr/>
          <p:nvPr/>
        </p:nvSpPr>
        <p:spPr>
          <a:xfrm>
            <a:off x="571500" y="476250"/>
            <a:ext cx="47700" cy="485700"/>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43" name="Google Shape;243;p24"/>
          <p:cNvPicPr preferRelativeResize="0"/>
          <p:nvPr/>
        </p:nvPicPr>
        <p:blipFill>
          <a:blip r:embed="rId6">
            <a:alphaModFix/>
          </a:blip>
          <a:stretch>
            <a:fillRect/>
          </a:stretch>
        </p:blipFill>
        <p:spPr>
          <a:xfrm>
            <a:off x="8114800" y="83539"/>
            <a:ext cx="3698675" cy="2437176"/>
          </a:xfrm>
          <a:prstGeom prst="rect">
            <a:avLst/>
          </a:prstGeom>
          <a:noFill/>
          <a:ln>
            <a:noFill/>
          </a:ln>
        </p:spPr>
      </p:pic>
      <p:pic>
        <p:nvPicPr>
          <p:cNvPr id="244" name="Google Shape;244;p24"/>
          <p:cNvPicPr preferRelativeResize="0"/>
          <p:nvPr/>
        </p:nvPicPr>
        <p:blipFill>
          <a:blip r:embed="rId7">
            <a:alphaModFix/>
          </a:blip>
          <a:stretch>
            <a:fillRect/>
          </a:stretch>
        </p:blipFill>
        <p:spPr>
          <a:xfrm>
            <a:off x="8114800" y="2520713"/>
            <a:ext cx="3698673" cy="1935504"/>
          </a:xfrm>
          <a:prstGeom prst="rect">
            <a:avLst/>
          </a:prstGeom>
          <a:noFill/>
          <a:ln>
            <a:noFill/>
          </a:ln>
        </p:spPr>
      </p:pic>
      <p:pic>
        <p:nvPicPr>
          <p:cNvPr id="245" name="Google Shape;245;p24"/>
          <p:cNvPicPr preferRelativeResize="0"/>
          <p:nvPr/>
        </p:nvPicPr>
        <p:blipFill>
          <a:blip r:embed="rId8">
            <a:alphaModFix/>
          </a:blip>
          <a:stretch>
            <a:fillRect/>
          </a:stretch>
        </p:blipFill>
        <p:spPr>
          <a:xfrm>
            <a:off x="8114800" y="4456225"/>
            <a:ext cx="3698677" cy="21257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49" name="Shape 249"/>
        <p:cNvGrpSpPr/>
        <p:nvPr/>
      </p:nvGrpSpPr>
      <p:grpSpPr>
        <a:xfrm>
          <a:off x="0" y="0"/>
          <a:ext cx="0" cy="0"/>
          <a:chOff x="0" y="0"/>
          <a:chExt cx="0" cy="0"/>
        </a:xfrm>
      </p:grpSpPr>
      <p:pic>
        <p:nvPicPr>
          <p:cNvPr descr="image.png" id="250" name="Google Shape;250;p25"/>
          <p:cNvPicPr preferRelativeResize="0"/>
          <p:nvPr/>
        </p:nvPicPr>
        <p:blipFill rotWithShape="1">
          <a:blip r:embed="rId3">
            <a:alphaModFix/>
          </a:blip>
          <a:srcRect b="0" l="0" r="0" t="0"/>
          <a:stretch/>
        </p:blipFill>
        <p:spPr>
          <a:xfrm>
            <a:off x="571500" y="1381850"/>
            <a:ext cx="2663401" cy="5087950"/>
          </a:xfrm>
          <a:prstGeom prst="rect">
            <a:avLst/>
          </a:prstGeom>
          <a:noFill/>
          <a:ln>
            <a:noFill/>
          </a:ln>
        </p:spPr>
      </p:pic>
      <p:pic>
        <p:nvPicPr>
          <p:cNvPr descr="image.png" id="251" name="Google Shape;251;p25"/>
          <p:cNvPicPr preferRelativeResize="0"/>
          <p:nvPr/>
        </p:nvPicPr>
        <p:blipFill rotWithShape="1">
          <a:blip r:embed="rId4">
            <a:alphaModFix/>
          </a:blip>
          <a:srcRect b="0" l="0" r="0" t="0"/>
          <a:stretch/>
        </p:blipFill>
        <p:spPr>
          <a:xfrm>
            <a:off x="664825" y="1498050"/>
            <a:ext cx="297209" cy="228600"/>
          </a:xfrm>
          <a:prstGeom prst="rect">
            <a:avLst/>
          </a:prstGeom>
          <a:noFill/>
          <a:ln>
            <a:noFill/>
          </a:ln>
        </p:spPr>
      </p:pic>
      <p:sp>
        <p:nvSpPr>
          <p:cNvPr id="252" name="Google Shape;252;p25"/>
          <p:cNvSpPr txBox="1"/>
          <p:nvPr/>
        </p:nvSpPr>
        <p:spPr>
          <a:xfrm>
            <a:off x="664825" y="2009425"/>
            <a:ext cx="1143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253" name="Google Shape;253;p25"/>
          <p:cNvSpPr txBox="1"/>
          <p:nvPr/>
        </p:nvSpPr>
        <p:spPr>
          <a:xfrm>
            <a:off x="664825" y="2976100"/>
            <a:ext cx="1143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254" name="Google Shape;254;p25"/>
          <p:cNvSpPr txBox="1"/>
          <p:nvPr/>
        </p:nvSpPr>
        <p:spPr>
          <a:xfrm>
            <a:off x="6677025" y="2162175"/>
            <a:ext cx="1143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255" name="Google Shape;255;p25"/>
          <p:cNvSpPr txBox="1"/>
          <p:nvPr/>
        </p:nvSpPr>
        <p:spPr>
          <a:xfrm>
            <a:off x="6677025" y="2240425"/>
            <a:ext cx="1143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256" name="Google Shape;256;p25"/>
          <p:cNvSpPr txBox="1"/>
          <p:nvPr/>
        </p:nvSpPr>
        <p:spPr>
          <a:xfrm>
            <a:off x="762000" y="476250"/>
            <a:ext cx="114015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150">
                <a:solidFill>
                  <a:srgbClr val="38BDF8"/>
                </a:solidFill>
                <a:latin typeface="Urbanist"/>
                <a:ea typeface="Urbanist"/>
                <a:cs typeface="Urbanist"/>
                <a:sym typeface="Urbanist"/>
              </a:rPr>
              <a:t>FINDINGS: Position Change by Tyre Compound Transition</a:t>
            </a:r>
            <a:endParaRPr/>
          </a:p>
        </p:txBody>
      </p:sp>
      <p:sp>
        <p:nvSpPr>
          <p:cNvPr id="257" name="Google Shape;257;p25"/>
          <p:cNvSpPr/>
          <p:nvPr/>
        </p:nvSpPr>
        <p:spPr>
          <a:xfrm>
            <a:off x="571500" y="476250"/>
            <a:ext cx="47700" cy="485700"/>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58" name="Google Shape;258;p25" title="Screenshot 2025-12-03 at 5.02.54 PM.png"/>
          <p:cNvPicPr preferRelativeResize="0"/>
          <p:nvPr/>
        </p:nvPicPr>
        <p:blipFill>
          <a:blip r:embed="rId5">
            <a:alphaModFix/>
          </a:blip>
          <a:stretch>
            <a:fillRect/>
          </a:stretch>
        </p:blipFill>
        <p:spPr>
          <a:xfrm>
            <a:off x="3610150" y="1127801"/>
            <a:ext cx="8371924" cy="4191075"/>
          </a:xfrm>
          <a:prstGeom prst="rect">
            <a:avLst/>
          </a:prstGeom>
          <a:noFill/>
          <a:ln>
            <a:noFill/>
          </a:ln>
        </p:spPr>
      </p:pic>
      <p:sp>
        <p:nvSpPr>
          <p:cNvPr id="259" name="Google Shape;259;p25"/>
          <p:cNvSpPr txBox="1"/>
          <p:nvPr/>
        </p:nvSpPr>
        <p:spPr>
          <a:xfrm>
            <a:off x="892825" y="1909525"/>
            <a:ext cx="22257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F8FAFC"/>
                </a:solidFill>
                <a:latin typeface="Calibri"/>
                <a:ea typeface="Calibri"/>
                <a:cs typeface="Calibri"/>
                <a:sym typeface="Calibri"/>
              </a:rPr>
              <a:t>Medium → Hard tends to yield the strongest net gains</a:t>
            </a:r>
            <a:endParaRPr sz="1500">
              <a:solidFill>
                <a:srgbClr val="F8FAFC"/>
              </a:solidFill>
              <a:latin typeface="Calibri"/>
              <a:ea typeface="Calibri"/>
              <a:cs typeface="Calibri"/>
              <a:sym typeface="Calibri"/>
            </a:endParaRPr>
          </a:p>
        </p:txBody>
      </p:sp>
      <p:sp>
        <p:nvSpPr>
          <p:cNvPr id="260" name="Google Shape;260;p25"/>
          <p:cNvSpPr txBox="1"/>
          <p:nvPr/>
        </p:nvSpPr>
        <p:spPr>
          <a:xfrm>
            <a:off x="868050" y="2879025"/>
            <a:ext cx="20703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lt1"/>
                </a:solidFill>
                <a:latin typeface="Calibri"/>
                <a:ea typeface="Calibri"/>
                <a:cs typeface="Calibri"/>
                <a:sym typeface="Calibri"/>
              </a:rPr>
              <a:t>Hard → Medium or Hard → Soft often “activates” more pace</a:t>
            </a:r>
            <a:endParaRPr sz="1500">
              <a:solidFill>
                <a:schemeClr val="lt1"/>
              </a:solidFill>
              <a:latin typeface="Calibri"/>
              <a:ea typeface="Calibri"/>
              <a:cs typeface="Calibri"/>
              <a:sym typeface="Calibri"/>
            </a:endParaRPr>
          </a:p>
        </p:txBody>
      </p:sp>
      <p:sp>
        <p:nvSpPr>
          <p:cNvPr id="261" name="Google Shape;261;p25"/>
          <p:cNvSpPr txBox="1"/>
          <p:nvPr/>
        </p:nvSpPr>
        <p:spPr>
          <a:xfrm>
            <a:off x="664825" y="3942775"/>
            <a:ext cx="1143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262" name="Google Shape;262;p25"/>
          <p:cNvSpPr txBox="1"/>
          <p:nvPr/>
        </p:nvSpPr>
        <p:spPr>
          <a:xfrm>
            <a:off x="868050" y="3848525"/>
            <a:ext cx="20703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lt1"/>
                </a:solidFill>
                <a:latin typeface="Calibri"/>
                <a:ea typeface="Calibri"/>
                <a:cs typeface="Calibri"/>
                <a:sym typeface="Calibri"/>
              </a:rPr>
              <a:t>Soft → Hard usually produces the </a:t>
            </a:r>
            <a:r>
              <a:rPr i="1" lang="en-US" sz="1500">
                <a:solidFill>
                  <a:schemeClr val="lt1"/>
                </a:solidFill>
                <a:latin typeface="Calibri"/>
                <a:ea typeface="Calibri"/>
                <a:cs typeface="Calibri"/>
                <a:sym typeface="Calibri"/>
              </a:rPr>
              <a:t>smallest</a:t>
            </a:r>
            <a:r>
              <a:rPr lang="en-US" sz="1500">
                <a:solidFill>
                  <a:schemeClr val="lt1"/>
                </a:solidFill>
                <a:latin typeface="Calibri"/>
                <a:ea typeface="Calibri"/>
                <a:cs typeface="Calibri"/>
                <a:sym typeface="Calibri"/>
              </a:rPr>
              <a:t> gains</a:t>
            </a:r>
            <a:endParaRPr sz="1500">
              <a:solidFill>
                <a:schemeClr val="lt1"/>
              </a:solidFill>
              <a:latin typeface="Calibri"/>
              <a:ea typeface="Calibri"/>
              <a:cs typeface="Calibri"/>
              <a:sym typeface="Calibri"/>
            </a:endParaRPr>
          </a:p>
        </p:txBody>
      </p:sp>
      <p:sp>
        <p:nvSpPr>
          <p:cNvPr id="263" name="Google Shape;263;p25"/>
          <p:cNvSpPr txBox="1"/>
          <p:nvPr/>
        </p:nvSpPr>
        <p:spPr>
          <a:xfrm>
            <a:off x="664825" y="4845675"/>
            <a:ext cx="1143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EF4444"/>
                </a:solidFill>
                <a:latin typeface="JetBrains Mono"/>
                <a:ea typeface="JetBrains Mono"/>
                <a:cs typeface="JetBrains Mono"/>
                <a:sym typeface="JetBrains Mono"/>
              </a:rPr>
              <a:t>&gt;</a:t>
            </a:r>
            <a:endParaRPr/>
          </a:p>
        </p:txBody>
      </p:sp>
      <p:sp>
        <p:nvSpPr>
          <p:cNvPr id="264" name="Google Shape;264;p25"/>
          <p:cNvSpPr txBox="1"/>
          <p:nvPr/>
        </p:nvSpPr>
        <p:spPr>
          <a:xfrm>
            <a:off x="868050" y="4818025"/>
            <a:ext cx="19548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lt1"/>
                </a:solidFill>
                <a:latin typeface="Calibri"/>
                <a:ea typeface="Calibri"/>
                <a:cs typeface="Calibri"/>
                <a:sym typeface="Calibri"/>
              </a:rPr>
              <a:t>Variability reflects strategic context, not just tyre choice</a:t>
            </a:r>
            <a:endParaRPr sz="1500">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68" name="Shape 268"/>
        <p:cNvGrpSpPr/>
        <p:nvPr/>
      </p:nvGrpSpPr>
      <p:grpSpPr>
        <a:xfrm>
          <a:off x="0" y="0"/>
          <a:ext cx="0" cy="0"/>
          <a:chOff x="0" y="0"/>
          <a:chExt cx="0" cy="0"/>
        </a:xfrm>
      </p:grpSpPr>
      <p:pic>
        <p:nvPicPr>
          <p:cNvPr descr="image.png" id="269" name="Google Shape;269;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0" name="Google Shape;270;p26"/>
          <p:cNvPicPr preferRelativeResize="0"/>
          <p:nvPr/>
        </p:nvPicPr>
        <p:blipFill rotWithShape="1">
          <a:blip r:embed="rId4">
            <a:alphaModFix/>
          </a:blip>
          <a:srcRect b="0" l="0" r="0" t="0"/>
          <a:stretch/>
        </p:blipFill>
        <p:spPr>
          <a:xfrm>
            <a:off x="571500" y="1829692"/>
            <a:ext cx="11049000" cy="3198465"/>
          </a:xfrm>
          <a:prstGeom prst="rect">
            <a:avLst/>
          </a:prstGeom>
          <a:noFill/>
          <a:ln>
            <a:noFill/>
          </a:ln>
        </p:spPr>
      </p:pic>
      <p:sp>
        <p:nvSpPr>
          <p:cNvPr id="271" name="Google Shape;271;p26"/>
          <p:cNvSpPr txBox="1"/>
          <p:nvPr/>
        </p:nvSpPr>
        <p:spPr>
          <a:xfrm>
            <a:off x="915352" y="2420242"/>
            <a:ext cx="10361295" cy="914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38BDF8"/>
                </a:solidFill>
                <a:latin typeface="Urbanist"/>
                <a:ea typeface="Urbanist"/>
                <a:cs typeface="Urbanist"/>
                <a:sym typeface="Urbanist"/>
              </a:rPr>
              <a:t>Q &amp; A</a:t>
            </a:r>
            <a:endParaRPr/>
          </a:p>
        </p:txBody>
      </p:sp>
      <p:sp>
        <p:nvSpPr>
          <p:cNvPr id="272" name="Google Shape;272;p26"/>
          <p:cNvSpPr txBox="1"/>
          <p:nvPr/>
        </p:nvSpPr>
        <p:spPr>
          <a:xfrm>
            <a:off x="1162050" y="3525142"/>
            <a:ext cx="98679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Thank you for listening.</a:t>
            </a:r>
            <a:endParaRPr/>
          </a:p>
        </p:txBody>
      </p:sp>
      <p:sp>
        <p:nvSpPr>
          <p:cNvPr id="273" name="Google Shape;273;p26"/>
          <p:cNvSpPr txBox="1"/>
          <p:nvPr/>
        </p:nvSpPr>
        <p:spPr>
          <a:xfrm>
            <a:off x="1162050" y="4020442"/>
            <a:ext cx="986790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94A3B8"/>
                </a:solidFill>
                <a:latin typeface="Urbanist"/>
                <a:ea typeface="Urbanist"/>
                <a:cs typeface="Urbanist"/>
                <a:sym typeface="Urbanist"/>
              </a:rPr>
              <a:t>Open Floor for Questions on Methodology, API, or Findings.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